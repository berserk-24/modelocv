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7" r:id="rId2"/>
    <p:sldId id="258" r:id="rId3"/>
    <p:sldId id="259" r:id="rId4"/>
    <p:sldId id="260" r:id="rId5"/>
    <p:sldId id="261" r:id="rId6"/>
    <p:sldId id="262"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7" d="100"/>
          <a:sy n="117" d="100"/>
        </p:scale>
        <p:origin x="466"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61"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1048762"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5/14/2026</a:t>
            </a:fld>
            <a:endParaRPr lang="en-US"/>
          </a:p>
        </p:txBody>
      </p:sp>
      <p:sp>
        <p:nvSpPr>
          <p:cNvPr id="1048763"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1048764"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65"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1048766"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‹Nº›</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9" name="Slide Image Placeholder 1"/>
          <p:cNvSpPr>
            <a:spLocks noGrp="1" noRot="1" noChangeAspect="1"/>
          </p:cNvSpPr>
          <p:nvPr>
            <p:ph type="sldImg"/>
          </p:nvPr>
        </p:nvSpPr>
        <p:spPr/>
      </p:sp>
      <p:sp>
        <p:nvSpPr>
          <p:cNvPr id="1048670" name="Notes Placeholder 2"/>
          <p:cNvSpPr>
            <a:spLocks noGrp="1"/>
          </p:cNvSpPr>
          <p:nvPr>
            <p:ph type="body" idx="1"/>
          </p:nvPr>
        </p:nvSpPr>
        <p:spPr/>
        <p:txBody>
          <a:bodyPr/>
          <a:lstStyle/>
          <a:p>
            <a:endParaRPr lang="en-US" dirty="0"/>
          </a:p>
        </p:txBody>
      </p:sp>
      <p:sp>
        <p:nvSpPr>
          <p:cNvPr id="1048671"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1" name="Slide Image Placeholder 1"/>
          <p:cNvSpPr>
            <a:spLocks noGrp="1" noRot="1" noChangeAspect="1"/>
          </p:cNvSpPr>
          <p:nvPr>
            <p:ph type="sldImg"/>
          </p:nvPr>
        </p:nvSpPr>
        <p:spPr/>
      </p:sp>
      <p:sp>
        <p:nvSpPr>
          <p:cNvPr id="1048602" name="Notes Placeholder 2"/>
          <p:cNvSpPr>
            <a:spLocks noGrp="1"/>
          </p:cNvSpPr>
          <p:nvPr>
            <p:ph type="body" idx="1"/>
          </p:nvPr>
        </p:nvSpPr>
        <p:spPr/>
        <p:txBody>
          <a:bodyPr/>
          <a:lstStyle/>
          <a:p>
            <a:endParaRPr lang="en-US" dirty="0"/>
          </a:p>
        </p:txBody>
      </p:sp>
      <p:sp>
        <p:nvSpPr>
          <p:cNvPr id="1048603"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8" name="Slide Image Placeholder 1"/>
          <p:cNvSpPr>
            <a:spLocks noGrp="1" noRot="1" noChangeAspect="1"/>
          </p:cNvSpPr>
          <p:nvPr>
            <p:ph type="sldImg"/>
          </p:nvPr>
        </p:nvSpPr>
        <p:spPr/>
      </p:sp>
      <p:sp>
        <p:nvSpPr>
          <p:cNvPr id="1048659" name="Notes Placeholder 2"/>
          <p:cNvSpPr>
            <a:spLocks noGrp="1"/>
          </p:cNvSpPr>
          <p:nvPr>
            <p:ph type="body" idx="1"/>
          </p:nvPr>
        </p:nvSpPr>
        <p:spPr/>
        <p:txBody>
          <a:bodyPr/>
          <a:lstStyle/>
          <a:p>
            <a:endParaRPr lang="en-US" dirty="0"/>
          </a:p>
        </p:txBody>
      </p:sp>
      <p:sp>
        <p:nvSpPr>
          <p:cNvPr id="1048660"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3" name="Slide Image Placeholder 1"/>
          <p:cNvSpPr>
            <a:spLocks noGrp="1" noRot="1" noChangeAspect="1"/>
          </p:cNvSpPr>
          <p:nvPr>
            <p:ph type="sldImg"/>
          </p:nvPr>
        </p:nvSpPr>
        <p:spPr/>
      </p:sp>
      <p:sp>
        <p:nvSpPr>
          <p:cNvPr id="1048694" name="Notes Placeholder 2"/>
          <p:cNvSpPr>
            <a:spLocks noGrp="1"/>
          </p:cNvSpPr>
          <p:nvPr>
            <p:ph type="body" idx="1"/>
          </p:nvPr>
        </p:nvSpPr>
        <p:spPr/>
        <p:txBody>
          <a:bodyPr/>
          <a:lstStyle/>
          <a:p>
            <a:endParaRPr lang="en-US" dirty="0"/>
          </a:p>
        </p:txBody>
      </p:sp>
      <p:sp>
        <p:nvSpPr>
          <p:cNvPr id="1048695"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1" name="Slide Image Placeholder 1"/>
          <p:cNvSpPr>
            <a:spLocks noGrp="1" noRot="1" noChangeAspect="1"/>
          </p:cNvSpPr>
          <p:nvPr>
            <p:ph type="sldImg"/>
          </p:nvPr>
        </p:nvSpPr>
        <p:spPr/>
      </p:sp>
      <p:sp>
        <p:nvSpPr>
          <p:cNvPr id="1048722" name="Notes Placeholder 2"/>
          <p:cNvSpPr>
            <a:spLocks noGrp="1"/>
          </p:cNvSpPr>
          <p:nvPr>
            <p:ph type="body" idx="1"/>
          </p:nvPr>
        </p:nvSpPr>
        <p:spPr/>
        <p:txBody>
          <a:bodyPr/>
          <a:lstStyle/>
          <a:p>
            <a:endParaRPr lang="en-US" dirty="0"/>
          </a:p>
        </p:txBody>
      </p:sp>
      <p:sp>
        <p:nvSpPr>
          <p:cNvPr id="1048723"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8" name="Slide Image Placeholder 1"/>
          <p:cNvSpPr>
            <a:spLocks noGrp="1" noRot="1" noChangeAspect="1"/>
          </p:cNvSpPr>
          <p:nvPr>
            <p:ph type="sldImg"/>
          </p:nvPr>
        </p:nvSpPr>
        <p:spPr/>
      </p:sp>
      <p:sp>
        <p:nvSpPr>
          <p:cNvPr id="1048759" name="Notes Placeholder 2"/>
          <p:cNvSpPr>
            <a:spLocks noGrp="1"/>
          </p:cNvSpPr>
          <p:nvPr>
            <p:ph type="body" idx="1"/>
          </p:nvPr>
        </p:nvSpPr>
        <p:spPr/>
        <p:txBody>
          <a:bodyPr/>
          <a:lstStyle/>
          <a:p>
            <a:endParaRPr lang="en-US" dirty="0"/>
          </a:p>
        </p:txBody>
      </p:sp>
      <p:sp>
        <p:nvSpPr>
          <p:cNvPr id="1048760"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1048661" name="Shape 0"/>
          <p:cNvSpPr/>
          <p:nvPr/>
        </p:nvSpPr>
        <p:spPr>
          <a:xfrm>
            <a:off x="0" y="0"/>
            <a:ext cx="320040" cy="5143500"/>
          </a:xfrm>
          <a:prstGeom prst="rect">
            <a:avLst/>
          </a:prstGeom>
          <a:solidFill>
            <a:srgbClr val="0EA5A0"/>
          </a:solidFill>
          <a:ln w="12700">
            <a:solidFill>
              <a:srgbClr val="0EA5A0"/>
            </a:solidFill>
            <a:prstDash val="solid"/>
          </a:ln>
        </p:spPr>
        <p:txBody>
          <a:bodyPr/>
          <a:lstStyle/>
          <a:p>
            <a:endParaRPr lang="es-CO"/>
          </a:p>
        </p:txBody>
      </p:sp>
      <p:sp>
        <p:nvSpPr>
          <p:cNvPr id="1048662" name="Shape 1"/>
          <p:cNvSpPr/>
          <p:nvPr/>
        </p:nvSpPr>
        <p:spPr>
          <a:xfrm>
            <a:off x="7132320" y="-1097280"/>
            <a:ext cx="3200400" cy="3200400"/>
          </a:xfrm>
          <a:prstGeom prst="ellipse">
            <a:avLst/>
          </a:prstGeom>
          <a:solidFill>
            <a:srgbClr val="0EA5A0">
              <a:alpha val="20000"/>
            </a:srgbClr>
          </a:solidFill>
          <a:ln w="12700">
            <a:solidFill>
              <a:srgbClr val="0EA5A0">
                <a:alpha val="40000"/>
              </a:srgbClr>
            </a:solidFill>
            <a:prstDash val="solid"/>
          </a:ln>
        </p:spPr>
        <p:txBody>
          <a:bodyPr/>
          <a:lstStyle/>
          <a:p>
            <a:endParaRPr lang="es-CO"/>
          </a:p>
        </p:txBody>
      </p:sp>
      <p:sp>
        <p:nvSpPr>
          <p:cNvPr id="1048663" name="Text 2"/>
          <p:cNvSpPr/>
          <p:nvPr/>
        </p:nvSpPr>
        <p:spPr>
          <a:xfrm>
            <a:off x="594360" y="548640"/>
            <a:ext cx="3406140" cy="640080"/>
          </a:xfrm>
          <a:prstGeom prst="rect">
            <a:avLst/>
          </a:prstGeom>
          <a:noFill/>
        </p:spPr>
        <p:txBody>
          <a:bodyPr wrap="square" lIns="0" tIns="0" rIns="0" bIns="0" rtlCol="0" anchor="ctr"/>
          <a:lstStyle/>
          <a:p>
            <a:pPr marL="0" indent="0" algn="l">
              <a:buNone/>
            </a:pPr>
            <a:r>
              <a:rPr lang="en-US" sz="1200" b="1" kern="0" spc="400" dirty="0">
                <a:solidFill>
                  <a:srgbClr val="0EA5A0"/>
                </a:solidFill>
              </a:rPr>
              <a:t>APRENDIZAJE SUPERVISADO</a:t>
            </a:r>
            <a:endParaRPr lang="en-US" sz="1200" dirty="0"/>
          </a:p>
        </p:txBody>
      </p:sp>
      <p:sp>
        <p:nvSpPr>
          <p:cNvPr id="1048664" name="Text 3"/>
          <p:cNvSpPr/>
          <p:nvPr/>
        </p:nvSpPr>
        <p:spPr>
          <a:xfrm>
            <a:off x="594360" y="1005840"/>
            <a:ext cx="7783158" cy="2377440"/>
          </a:xfrm>
          <a:prstGeom prst="rect">
            <a:avLst/>
          </a:prstGeom>
          <a:noFill/>
        </p:spPr>
        <p:txBody>
          <a:bodyPr wrap="square" lIns="0" tIns="0" rIns="0" bIns="0" rtlCol="0" anchor="ctr"/>
          <a:lstStyle/>
          <a:p>
            <a:pPr marL="0" indent="0" algn="l">
              <a:lnSpc>
                <a:spcPct val="110000"/>
              </a:lnSpc>
              <a:buNone/>
            </a:pPr>
            <a:r>
              <a:rPr lang="es-CO" sz="4400" b="1" noProof="0">
                <a:solidFill>
                  <a:srgbClr val="FFFFFF"/>
                </a:solidFill>
              </a:rPr>
              <a:t>Predicción de</a:t>
            </a:r>
            <a:r>
              <a:rPr lang="es-CO" sz="4400" noProof="0"/>
              <a:t> </a:t>
            </a:r>
            <a:r>
              <a:rPr lang="es-CO" sz="4400" b="1" noProof="0">
                <a:solidFill>
                  <a:srgbClr val="FFFFFF"/>
                </a:solidFill>
              </a:rPr>
              <a:t>Cancelación</a:t>
            </a:r>
            <a:endParaRPr lang="es-CO" sz="4400" noProof="0"/>
          </a:p>
          <a:p>
            <a:pPr marL="0" indent="0" algn="l">
              <a:lnSpc>
                <a:spcPct val="110000"/>
              </a:lnSpc>
              <a:buNone/>
            </a:pPr>
            <a:r>
              <a:rPr lang="es-CO" sz="4400" b="1" noProof="0" dirty="0">
                <a:solidFill>
                  <a:srgbClr val="FFFFFF"/>
                </a:solidFill>
              </a:rPr>
              <a:t>de Tiquetes</a:t>
            </a:r>
            <a:endParaRPr lang="es-CO" sz="4400" noProof="0" dirty="0"/>
          </a:p>
        </p:txBody>
      </p:sp>
      <p:sp>
        <p:nvSpPr>
          <p:cNvPr id="1048665" name="Text 4"/>
          <p:cNvSpPr/>
          <p:nvPr/>
        </p:nvSpPr>
        <p:spPr>
          <a:xfrm>
            <a:off x="594360" y="3232670"/>
            <a:ext cx="3453205" cy="640080"/>
          </a:xfrm>
          <a:prstGeom prst="rect">
            <a:avLst/>
          </a:prstGeom>
          <a:noFill/>
        </p:spPr>
        <p:txBody>
          <a:bodyPr wrap="square" lIns="0" tIns="0" rIns="0" bIns="0" rtlCol="0" anchor="ctr"/>
          <a:lstStyle/>
          <a:p>
            <a:pPr marL="0" indent="0" algn="l">
              <a:buNone/>
            </a:pPr>
            <a:r>
              <a:rPr lang="en-US" sz="1200" dirty="0">
                <a:solidFill>
                  <a:srgbClr val="8DA2B5"/>
                </a:solidFill>
              </a:rPr>
              <a:t>Modelo de clasificacion supervisada aplicado a reservas</a:t>
            </a:r>
            <a:endParaRPr lang="en-US" sz="1200" dirty="0"/>
          </a:p>
          <a:p>
            <a:pPr marL="0" indent="0" algn="l">
              <a:buNone/>
            </a:pPr>
            <a:r>
              <a:rPr lang="en-US" sz="1200" dirty="0">
                <a:solidFill>
                  <a:srgbClr val="8DA2B5"/>
                </a:solidFill>
              </a:rPr>
              <a:t>de transporte en agencias de viaje</a:t>
            </a:r>
            <a:endParaRPr lang="en-US" sz="1200" dirty="0"/>
          </a:p>
        </p:txBody>
      </p:sp>
      <p:sp>
        <p:nvSpPr>
          <p:cNvPr id="1048666" name="Shape 5"/>
          <p:cNvSpPr/>
          <p:nvPr/>
        </p:nvSpPr>
        <p:spPr>
          <a:xfrm>
            <a:off x="594360" y="3918470"/>
            <a:ext cx="5029200" cy="18288"/>
          </a:xfrm>
          <a:prstGeom prst="rect">
            <a:avLst/>
          </a:prstGeom>
          <a:solidFill>
            <a:srgbClr val="1B2E45"/>
          </a:solidFill>
          <a:ln w="12700">
            <a:solidFill>
              <a:srgbClr val="1B2E45"/>
            </a:solidFill>
            <a:prstDash val="solid"/>
          </a:ln>
        </p:spPr>
        <p:txBody>
          <a:bodyPr/>
          <a:lstStyle/>
          <a:p>
            <a:endParaRPr lang="es-CO"/>
          </a:p>
        </p:txBody>
      </p:sp>
      <p:sp>
        <p:nvSpPr>
          <p:cNvPr id="1048667" name="Text 6"/>
          <p:cNvSpPr/>
          <p:nvPr/>
        </p:nvSpPr>
        <p:spPr>
          <a:xfrm>
            <a:off x="594359" y="4191227"/>
            <a:ext cx="2041265" cy="392552"/>
          </a:xfrm>
          <a:prstGeom prst="rect">
            <a:avLst/>
          </a:prstGeom>
          <a:noFill/>
        </p:spPr>
        <p:txBody>
          <a:bodyPr wrap="square" lIns="0" tIns="0" rIns="0" bIns="0" rtlCol="0" anchor="ctr"/>
          <a:lstStyle/>
          <a:p>
            <a:pPr marL="0" indent="0" algn="l">
              <a:buNone/>
            </a:pPr>
            <a:r>
              <a:rPr lang="en-US" sz="1400" b="1" kern="0" spc="200" dirty="0">
                <a:solidFill>
                  <a:srgbClr val="0EA5A0"/>
                </a:solidFill>
              </a:rPr>
              <a:t>Juan David Calderón Díaz </a:t>
            </a:r>
            <a:endParaRPr lang="en-US" sz="1400" dirty="0"/>
          </a:p>
        </p:txBody>
      </p:sp>
      <p:sp>
        <p:nvSpPr>
          <p:cNvPr id="1048668" name="Text 10"/>
          <p:cNvSpPr/>
          <p:nvPr/>
        </p:nvSpPr>
        <p:spPr>
          <a:xfrm>
            <a:off x="594359" y="4709160"/>
            <a:ext cx="1785769" cy="146304"/>
          </a:xfrm>
          <a:prstGeom prst="rect">
            <a:avLst/>
          </a:prstGeom>
          <a:noFill/>
        </p:spPr>
        <p:txBody>
          <a:bodyPr wrap="square" lIns="0" tIns="0" rIns="0" bIns="0" rtlCol="0" anchor="ctr"/>
          <a:lstStyle/>
          <a:p>
            <a:pPr marL="0" indent="0" algn="l">
              <a:buNone/>
            </a:pPr>
            <a:r>
              <a:rPr lang="en-US" sz="1100" b="1" kern="0" spc="200" dirty="0">
                <a:solidFill>
                  <a:srgbClr val="0EA5A0"/>
                </a:solidFill>
              </a:rPr>
              <a:t>Inteligencia Artificial </a:t>
            </a:r>
            <a:endParaRPr lang="en-US" sz="1100" dirty="0"/>
          </a:p>
        </p:txBody>
      </p:sp>
      <p:pic>
        <p:nvPicPr>
          <p:cNvPr id="1026" name="Picture 2" descr="a setwin service bus with people getting on it">
            <a:extLst>
              <a:ext uri="{FF2B5EF4-FFF2-40B4-BE49-F238E27FC236}">
                <a16:creationId xmlns:a16="http://schemas.microsoft.com/office/drawing/2014/main" id="{61DBC2A2-805A-17B5-6378-F81077E61B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2699" y="2308803"/>
            <a:ext cx="3562350" cy="26384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B"/>
        </a:solidFill>
        <a:effectLst/>
      </p:bgPr>
    </p:bg>
    <p:spTree>
      <p:nvGrpSpPr>
        <p:cNvPr id="1" name=""/>
        <p:cNvGrpSpPr/>
        <p:nvPr/>
      </p:nvGrpSpPr>
      <p:grpSpPr>
        <a:xfrm>
          <a:off x="0" y="0"/>
          <a:ext cx="0" cy="0"/>
          <a:chOff x="0" y="0"/>
          <a:chExt cx="0" cy="0"/>
        </a:xfrm>
      </p:grpSpPr>
      <p:sp>
        <p:nvSpPr>
          <p:cNvPr id="1048576" name="Text 0"/>
          <p:cNvSpPr/>
          <p:nvPr/>
        </p:nvSpPr>
        <p:spPr>
          <a:xfrm>
            <a:off x="8595360" y="182880"/>
            <a:ext cx="457200" cy="274320"/>
          </a:xfrm>
          <a:prstGeom prst="rect">
            <a:avLst/>
          </a:prstGeom>
          <a:noFill/>
        </p:spPr>
        <p:txBody>
          <a:bodyPr wrap="square" lIns="0" tIns="0" rIns="0" bIns="0" rtlCol="0" anchor="ctr"/>
          <a:lstStyle/>
          <a:p>
            <a:pPr marL="0" indent="0" algn="r">
              <a:buNone/>
            </a:pPr>
            <a:r>
              <a:rPr lang="en-US" sz="900" dirty="0">
                <a:solidFill>
                  <a:srgbClr val="8DA2B5"/>
                </a:solidFill>
              </a:rPr>
              <a:t>02</a:t>
            </a:r>
            <a:endParaRPr lang="en-US" sz="900" dirty="0"/>
          </a:p>
        </p:txBody>
      </p:sp>
      <p:sp>
        <p:nvSpPr>
          <p:cNvPr id="1048577" name="Text 1"/>
          <p:cNvSpPr/>
          <p:nvPr/>
        </p:nvSpPr>
        <p:spPr>
          <a:xfrm>
            <a:off x="457200" y="228600"/>
            <a:ext cx="8229600" cy="502920"/>
          </a:xfrm>
          <a:prstGeom prst="rect">
            <a:avLst/>
          </a:prstGeom>
          <a:noFill/>
        </p:spPr>
        <p:txBody>
          <a:bodyPr wrap="square" lIns="0" tIns="0" rIns="0" bIns="0" rtlCol="0" anchor="ctr"/>
          <a:lstStyle/>
          <a:p>
            <a:pPr marL="0" indent="0" algn="l">
              <a:buNone/>
            </a:pPr>
            <a:r>
              <a:rPr lang="en-US" sz="2600" b="1" dirty="0">
                <a:solidFill>
                  <a:srgbClr val="0D1B2A"/>
                </a:solidFill>
              </a:rPr>
              <a:t>Problema a resolver</a:t>
            </a:r>
            <a:endParaRPr lang="en-US" sz="2600" dirty="0"/>
          </a:p>
        </p:txBody>
      </p:sp>
      <p:sp>
        <p:nvSpPr>
          <p:cNvPr id="1048578" name="Shape 2"/>
          <p:cNvSpPr/>
          <p:nvPr/>
        </p:nvSpPr>
        <p:spPr>
          <a:xfrm>
            <a:off x="457200" y="749808"/>
            <a:ext cx="1371600" cy="45720"/>
          </a:xfrm>
          <a:prstGeom prst="rect">
            <a:avLst/>
          </a:prstGeom>
          <a:solidFill>
            <a:srgbClr val="0EA5A0"/>
          </a:solidFill>
          <a:ln w="12700">
            <a:solidFill>
              <a:srgbClr val="0EA5A0"/>
            </a:solidFill>
            <a:prstDash val="solid"/>
          </a:ln>
        </p:spPr>
        <p:txBody>
          <a:bodyPr/>
          <a:lstStyle/>
          <a:p>
            <a:endParaRPr lang="es-CO"/>
          </a:p>
        </p:txBody>
      </p:sp>
      <p:sp>
        <p:nvSpPr>
          <p:cNvPr id="1048579" name="Shape 3"/>
          <p:cNvSpPr/>
          <p:nvPr/>
        </p:nvSpPr>
        <p:spPr>
          <a:xfrm>
            <a:off x="457200" y="960120"/>
            <a:ext cx="5303520" cy="1645920"/>
          </a:xfrm>
          <a:prstGeom prst="rect">
            <a:avLst/>
          </a:prstGeom>
          <a:solidFill>
            <a:srgbClr val="FFFFFF"/>
          </a:solidFill>
          <a:ln w="6350">
            <a:solidFill>
              <a:srgbClr val="D0DDE8"/>
            </a:solidFill>
            <a:prstDash val="solid"/>
          </a:ln>
          <a:effectLst>
            <a:outerShdw blurRad="101600" dist="38100" dir="8100000" algn="bl" rotWithShape="0">
              <a:srgbClr val="000000">
                <a:alpha val="10000"/>
              </a:srgbClr>
            </a:outerShdw>
          </a:effectLst>
        </p:spPr>
        <p:txBody>
          <a:bodyPr/>
          <a:lstStyle/>
          <a:p>
            <a:endParaRPr lang="es-CO"/>
          </a:p>
        </p:txBody>
      </p:sp>
      <p:sp>
        <p:nvSpPr>
          <p:cNvPr id="1048580" name="Shape 4"/>
          <p:cNvSpPr/>
          <p:nvPr/>
        </p:nvSpPr>
        <p:spPr>
          <a:xfrm>
            <a:off x="457200" y="960120"/>
            <a:ext cx="73152" cy="1645920"/>
          </a:xfrm>
          <a:prstGeom prst="rect">
            <a:avLst/>
          </a:prstGeom>
          <a:solidFill>
            <a:srgbClr val="0EA5A0"/>
          </a:solidFill>
          <a:ln w="12700">
            <a:solidFill>
              <a:srgbClr val="0EA5A0"/>
            </a:solidFill>
            <a:prstDash val="solid"/>
          </a:ln>
        </p:spPr>
        <p:txBody>
          <a:bodyPr/>
          <a:lstStyle/>
          <a:p>
            <a:endParaRPr lang="es-CO"/>
          </a:p>
        </p:txBody>
      </p:sp>
      <p:sp>
        <p:nvSpPr>
          <p:cNvPr id="1048581" name="Text 5"/>
          <p:cNvSpPr/>
          <p:nvPr/>
        </p:nvSpPr>
        <p:spPr>
          <a:xfrm>
            <a:off x="658368" y="1051560"/>
            <a:ext cx="4937760" cy="274320"/>
          </a:xfrm>
          <a:prstGeom prst="rect">
            <a:avLst/>
          </a:prstGeom>
          <a:noFill/>
        </p:spPr>
        <p:txBody>
          <a:bodyPr wrap="square" lIns="0" tIns="0" rIns="0" bIns="0" rtlCol="0" anchor="ctr"/>
          <a:lstStyle/>
          <a:p>
            <a:pPr marL="0" indent="0" algn="l">
              <a:buNone/>
            </a:pPr>
            <a:r>
              <a:rPr lang="en-US" sz="1100" b="1" dirty="0">
                <a:solidFill>
                  <a:srgbClr val="0EA5A0"/>
                </a:solidFill>
              </a:rPr>
              <a:t>El problema</a:t>
            </a:r>
            <a:endParaRPr lang="en-US" sz="1100" dirty="0"/>
          </a:p>
        </p:txBody>
      </p:sp>
      <p:sp>
        <p:nvSpPr>
          <p:cNvPr id="1048582" name="Text 6"/>
          <p:cNvSpPr/>
          <p:nvPr/>
        </p:nvSpPr>
        <p:spPr>
          <a:xfrm>
            <a:off x="658368" y="1371600"/>
            <a:ext cx="4937760" cy="1188720"/>
          </a:xfrm>
          <a:prstGeom prst="rect">
            <a:avLst/>
          </a:prstGeom>
          <a:noFill/>
        </p:spPr>
        <p:txBody>
          <a:bodyPr wrap="square" lIns="0" tIns="0" rIns="0" bIns="0" rtlCol="0" anchor="ctr"/>
          <a:lstStyle/>
          <a:p>
            <a:pPr marL="0" indent="0" algn="l">
              <a:lnSpc>
                <a:spcPct val="130000"/>
              </a:lnSpc>
              <a:buNone/>
            </a:pPr>
            <a:r>
              <a:rPr lang="en-US" sz="1050" dirty="0">
                <a:solidFill>
                  <a:srgbClr val="0D1B2A"/>
                </a:solidFill>
              </a:rPr>
              <a:t>Las agencias de transporte pierden ingresos cuando un pasajero cancela su reserva de ultimo momento. Si la agencia pudiera anticipar ese comportamiento, podria tomar decisiones como ajustar politicas de reembolso, activar overbooking controlado o alertar al equipo operativo con suficiente anticipacion.</a:t>
            </a:r>
            <a:endParaRPr lang="en-US" sz="1050" dirty="0"/>
          </a:p>
        </p:txBody>
      </p:sp>
      <p:sp>
        <p:nvSpPr>
          <p:cNvPr id="1048583" name="Shape 7"/>
          <p:cNvSpPr/>
          <p:nvPr/>
        </p:nvSpPr>
        <p:spPr>
          <a:xfrm>
            <a:off x="5989320" y="960120"/>
            <a:ext cx="2880360" cy="1280160"/>
          </a:xfrm>
          <a:prstGeom prst="rect">
            <a:avLst/>
          </a:prstGeom>
          <a:solidFill>
            <a:srgbClr val="FFFFFF"/>
          </a:solidFill>
          <a:ln w="6350">
            <a:solidFill>
              <a:srgbClr val="D0DDE8"/>
            </a:solidFill>
            <a:prstDash val="solid"/>
          </a:ln>
          <a:effectLst>
            <a:outerShdw blurRad="101600" dist="38100" dir="8100000" algn="bl" rotWithShape="0">
              <a:srgbClr val="000000">
                <a:alpha val="10000"/>
              </a:srgbClr>
            </a:outerShdw>
          </a:effectLst>
        </p:spPr>
        <p:txBody>
          <a:bodyPr/>
          <a:lstStyle/>
          <a:p>
            <a:endParaRPr lang="es-CO"/>
          </a:p>
        </p:txBody>
      </p:sp>
      <p:sp>
        <p:nvSpPr>
          <p:cNvPr id="1048584" name="Shape 8"/>
          <p:cNvSpPr/>
          <p:nvPr/>
        </p:nvSpPr>
        <p:spPr>
          <a:xfrm>
            <a:off x="5989320" y="960120"/>
            <a:ext cx="2880360" cy="73152"/>
          </a:xfrm>
          <a:prstGeom prst="rect">
            <a:avLst/>
          </a:prstGeom>
          <a:solidFill>
            <a:srgbClr val="0EA5A0"/>
          </a:solidFill>
          <a:ln w="12700">
            <a:solidFill>
              <a:srgbClr val="0EA5A0"/>
            </a:solidFill>
            <a:prstDash val="solid"/>
          </a:ln>
        </p:spPr>
        <p:txBody>
          <a:bodyPr/>
          <a:lstStyle/>
          <a:p>
            <a:endParaRPr lang="es-CO"/>
          </a:p>
        </p:txBody>
      </p:sp>
      <p:sp>
        <p:nvSpPr>
          <p:cNvPr id="1048585" name="Text 9"/>
          <p:cNvSpPr/>
          <p:nvPr/>
        </p:nvSpPr>
        <p:spPr>
          <a:xfrm>
            <a:off x="6126480" y="1124712"/>
            <a:ext cx="2651760" cy="274320"/>
          </a:xfrm>
          <a:prstGeom prst="rect">
            <a:avLst/>
          </a:prstGeom>
          <a:noFill/>
        </p:spPr>
        <p:txBody>
          <a:bodyPr wrap="square" lIns="0" tIns="0" rIns="0" bIns="0" rtlCol="0" anchor="ctr"/>
          <a:lstStyle/>
          <a:p>
            <a:pPr marL="0" indent="0" algn="l">
              <a:buNone/>
            </a:pPr>
            <a:r>
              <a:rPr lang="en-US" sz="1000" b="1" dirty="0">
                <a:solidFill>
                  <a:srgbClr val="0D1B2A"/>
                </a:solidFill>
              </a:rPr>
              <a:t>Por que es clasificacion?</a:t>
            </a:r>
            <a:endParaRPr lang="en-US" sz="1000" dirty="0"/>
          </a:p>
        </p:txBody>
      </p:sp>
      <p:sp>
        <p:nvSpPr>
          <p:cNvPr id="1048586" name="Text 10"/>
          <p:cNvSpPr/>
          <p:nvPr/>
        </p:nvSpPr>
        <p:spPr>
          <a:xfrm>
            <a:off x="6126480" y="1435608"/>
            <a:ext cx="2651760" cy="777240"/>
          </a:xfrm>
          <a:prstGeom prst="rect">
            <a:avLst/>
          </a:prstGeom>
          <a:noFill/>
        </p:spPr>
        <p:txBody>
          <a:bodyPr wrap="square" lIns="0" tIns="0" rIns="0" bIns="0" rtlCol="0" anchor="ctr"/>
          <a:lstStyle/>
          <a:p>
            <a:pPr marL="0" indent="0" algn="l">
              <a:lnSpc>
                <a:spcPct val="130000"/>
              </a:lnSpc>
              <a:buNone/>
            </a:pPr>
            <a:r>
              <a:rPr lang="en-US" sz="950" dirty="0">
                <a:solidFill>
                  <a:srgbClr val="0D1B2A"/>
                </a:solidFill>
              </a:rPr>
              <a:t>Porque la respuesta es categorica: el pasajero cancela (1) o no cancela (0). No hay valor intermedio.</a:t>
            </a:r>
            <a:endParaRPr lang="en-US" sz="950" dirty="0"/>
          </a:p>
        </p:txBody>
      </p:sp>
      <p:sp>
        <p:nvSpPr>
          <p:cNvPr id="1048587" name="Shape 11"/>
          <p:cNvSpPr/>
          <p:nvPr/>
        </p:nvSpPr>
        <p:spPr>
          <a:xfrm>
            <a:off x="5989320" y="2377440"/>
            <a:ext cx="2880360" cy="1280160"/>
          </a:xfrm>
          <a:prstGeom prst="rect">
            <a:avLst/>
          </a:prstGeom>
          <a:solidFill>
            <a:srgbClr val="FFFFFF"/>
          </a:solidFill>
          <a:ln w="6350">
            <a:solidFill>
              <a:srgbClr val="D0DDE8"/>
            </a:solidFill>
            <a:prstDash val="solid"/>
          </a:ln>
          <a:effectLst>
            <a:outerShdw blurRad="101600" dist="38100" dir="8100000" algn="bl" rotWithShape="0">
              <a:srgbClr val="000000">
                <a:alpha val="10000"/>
              </a:srgbClr>
            </a:outerShdw>
          </a:effectLst>
        </p:spPr>
        <p:txBody>
          <a:bodyPr/>
          <a:lstStyle/>
          <a:p>
            <a:endParaRPr lang="es-CO"/>
          </a:p>
        </p:txBody>
      </p:sp>
      <p:sp>
        <p:nvSpPr>
          <p:cNvPr id="1048588" name="Shape 12"/>
          <p:cNvSpPr/>
          <p:nvPr/>
        </p:nvSpPr>
        <p:spPr>
          <a:xfrm>
            <a:off x="5989320" y="2377440"/>
            <a:ext cx="2880360" cy="73152"/>
          </a:xfrm>
          <a:prstGeom prst="rect">
            <a:avLst/>
          </a:prstGeom>
          <a:solidFill>
            <a:srgbClr val="0EA5A0"/>
          </a:solidFill>
          <a:ln w="12700">
            <a:solidFill>
              <a:srgbClr val="0EA5A0"/>
            </a:solidFill>
            <a:prstDash val="solid"/>
          </a:ln>
        </p:spPr>
        <p:txBody>
          <a:bodyPr/>
          <a:lstStyle/>
          <a:p>
            <a:endParaRPr lang="es-CO"/>
          </a:p>
        </p:txBody>
      </p:sp>
      <p:sp>
        <p:nvSpPr>
          <p:cNvPr id="1048589" name="Text 13"/>
          <p:cNvSpPr/>
          <p:nvPr/>
        </p:nvSpPr>
        <p:spPr>
          <a:xfrm>
            <a:off x="6126480" y="2542032"/>
            <a:ext cx="2651760" cy="274320"/>
          </a:xfrm>
          <a:prstGeom prst="rect">
            <a:avLst/>
          </a:prstGeom>
          <a:noFill/>
        </p:spPr>
        <p:txBody>
          <a:bodyPr wrap="square" lIns="0" tIns="0" rIns="0" bIns="0" rtlCol="0" anchor="ctr"/>
          <a:lstStyle/>
          <a:p>
            <a:pPr marL="0" indent="0" algn="l">
              <a:buNone/>
            </a:pPr>
            <a:r>
              <a:rPr lang="en-US" sz="1000" b="1" dirty="0">
                <a:solidFill>
                  <a:srgbClr val="0D1B2A"/>
                </a:solidFill>
              </a:rPr>
              <a:t>Categorias a predecir</a:t>
            </a:r>
            <a:endParaRPr lang="en-US" sz="1000" dirty="0"/>
          </a:p>
        </p:txBody>
      </p:sp>
      <p:sp>
        <p:nvSpPr>
          <p:cNvPr id="1048590" name="Text 14"/>
          <p:cNvSpPr/>
          <p:nvPr/>
        </p:nvSpPr>
        <p:spPr>
          <a:xfrm>
            <a:off x="6126480" y="2852928"/>
            <a:ext cx="2651760" cy="777240"/>
          </a:xfrm>
          <a:prstGeom prst="rect">
            <a:avLst/>
          </a:prstGeom>
          <a:noFill/>
        </p:spPr>
        <p:txBody>
          <a:bodyPr wrap="square" lIns="0" tIns="0" rIns="0" bIns="0" rtlCol="0" anchor="ctr"/>
          <a:lstStyle/>
          <a:p>
            <a:pPr marL="0" indent="0" algn="l">
              <a:lnSpc>
                <a:spcPct val="130000"/>
              </a:lnSpc>
              <a:buNone/>
            </a:pPr>
            <a:r>
              <a:rPr lang="en-US" sz="950" dirty="0">
                <a:solidFill>
                  <a:srgbClr val="0D1B2A"/>
                </a:solidFill>
              </a:rPr>
              <a:t>Clase 0 — El pasajero se presenta al viaje.</a:t>
            </a:r>
            <a:endParaRPr lang="en-US" sz="950" dirty="0"/>
          </a:p>
          <a:p>
            <a:pPr marL="0" indent="0" algn="l">
              <a:lnSpc>
                <a:spcPct val="130000"/>
              </a:lnSpc>
              <a:buNone/>
            </a:pPr>
            <a:r>
              <a:rPr lang="en-US" sz="950" dirty="0">
                <a:solidFill>
                  <a:srgbClr val="0D1B2A"/>
                </a:solidFill>
              </a:rPr>
              <a:t>Clase 1 — El pasajero cancela la reserva.</a:t>
            </a:r>
            <a:endParaRPr lang="en-US" sz="950" dirty="0"/>
          </a:p>
        </p:txBody>
      </p:sp>
      <p:sp>
        <p:nvSpPr>
          <p:cNvPr id="1048591" name="Shape 15"/>
          <p:cNvSpPr/>
          <p:nvPr/>
        </p:nvSpPr>
        <p:spPr>
          <a:xfrm>
            <a:off x="457200" y="2788920"/>
            <a:ext cx="2651760" cy="914400"/>
          </a:xfrm>
          <a:prstGeom prst="rect">
            <a:avLst/>
          </a:prstGeom>
          <a:solidFill>
            <a:srgbClr val="0D1B2A"/>
          </a:solidFill>
          <a:ln w="12700">
            <a:solidFill>
              <a:srgbClr val="0D1B2A"/>
            </a:solidFill>
            <a:prstDash val="solid"/>
          </a:ln>
          <a:effectLst>
            <a:outerShdw blurRad="101600" dist="38100" dir="8100000" algn="bl" rotWithShape="0">
              <a:srgbClr val="000000">
                <a:alpha val="10000"/>
              </a:srgbClr>
            </a:outerShdw>
          </a:effectLst>
        </p:spPr>
        <p:txBody>
          <a:bodyPr/>
          <a:lstStyle/>
          <a:p>
            <a:endParaRPr lang="es-CO"/>
          </a:p>
        </p:txBody>
      </p:sp>
      <p:sp>
        <p:nvSpPr>
          <p:cNvPr id="1048592" name="Text 16"/>
          <p:cNvSpPr/>
          <p:nvPr/>
        </p:nvSpPr>
        <p:spPr>
          <a:xfrm>
            <a:off x="457200" y="2880360"/>
            <a:ext cx="2651760" cy="457200"/>
          </a:xfrm>
          <a:prstGeom prst="rect">
            <a:avLst/>
          </a:prstGeom>
          <a:noFill/>
        </p:spPr>
        <p:txBody>
          <a:bodyPr wrap="square" lIns="0" tIns="0" rIns="0" bIns="0" rtlCol="0" anchor="ctr"/>
          <a:lstStyle/>
          <a:p>
            <a:pPr marL="0" indent="0" algn="ctr">
              <a:buNone/>
            </a:pPr>
            <a:r>
              <a:rPr lang="en-US" sz="2600" b="1" dirty="0">
                <a:solidFill>
                  <a:srgbClr val="14C7C1"/>
                </a:solidFill>
              </a:rPr>
              <a:t>70.711</a:t>
            </a:r>
            <a:endParaRPr lang="en-US" sz="2600" dirty="0"/>
          </a:p>
        </p:txBody>
      </p:sp>
      <p:sp>
        <p:nvSpPr>
          <p:cNvPr id="1048593" name="Text 17"/>
          <p:cNvSpPr/>
          <p:nvPr/>
        </p:nvSpPr>
        <p:spPr>
          <a:xfrm>
            <a:off x="457200" y="3337560"/>
            <a:ext cx="2651760" cy="274320"/>
          </a:xfrm>
          <a:prstGeom prst="rect">
            <a:avLst/>
          </a:prstGeom>
          <a:noFill/>
        </p:spPr>
        <p:txBody>
          <a:bodyPr wrap="square" lIns="0" tIns="0" rIns="0" bIns="0" rtlCol="0" anchor="ctr"/>
          <a:lstStyle/>
          <a:p>
            <a:pPr marL="0" indent="0" algn="ctr">
              <a:buNone/>
            </a:pPr>
            <a:r>
              <a:rPr lang="en-US" sz="900" dirty="0">
                <a:solidFill>
                  <a:srgbClr val="8DA2B5"/>
                </a:solidFill>
              </a:rPr>
              <a:t>reservas en el dataset</a:t>
            </a:r>
            <a:endParaRPr lang="en-US" sz="900" dirty="0"/>
          </a:p>
        </p:txBody>
      </p:sp>
      <p:sp>
        <p:nvSpPr>
          <p:cNvPr id="1048594" name="Shape 18"/>
          <p:cNvSpPr/>
          <p:nvPr/>
        </p:nvSpPr>
        <p:spPr>
          <a:xfrm>
            <a:off x="3291840" y="2788920"/>
            <a:ext cx="2651760" cy="914400"/>
          </a:xfrm>
          <a:prstGeom prst="rect">
            <a:avLst/>
          </a:prstGeom>
          <a:solidFill>
            <a:srgbClr val="0D1B2A"/>
          </a:solidFill>
          <a:ln w="12700">
            <a:solidFill>
              <a:srgbClr val="0D1B2A"/>
            </a:solidFill>
            <a:prstDash val="solid"/>
          </a:ln>
          <a:effectLst>
            <a:outerShdw blurRad="101600" dist="38100" dir="8100000" algn="bl" rotWithShape="0">
              <a:srgbClr val="000000">
                <a:alpha val="10000"/>
              </a:srgbClr>
            </a:outerShdw>
          </a:effectLst>
        </p:spPr>
        <p:txBody>
          <a:bodyPr/>
          <a:lstStyle/>
          <a:p>
            <a:endParaRPr lang="es-CO"/>
          </a:p>
        </p:txBody>
      </p:sp>
      <p:sp>
        <p:nvSpPr>
          <p:cNvPr id="1048595" name="Text 19"/>
          <p:cNvSpPr/>
          <p:nvPr/>
        </p:nvSpPr>
        <p:spPr>
          <a:xfrm>
            <a:off x="3291840" y="2880360"/>
            <a:ext cx="2651760" cy="457200"/>
          </a:xfrm>
          <a:prstGeom prst="rect">
            <a:avLst/>
          </a:prstGeom>
          <a:noFill/>
        </p:spPr>
        <p:txBody>
          <a:bodyPr wrap="square" lIns="0" tIns="0" rIns="0" bIns="0" rtlCol="0" anchor="ctr"/>
          <a:lstStyle/>
          <a:p>
            <a:pPr marL="0" indent="0" algn="ctr">
              <a:buNone/>
            </a:pPr>
            <a:r>
              <a:rPr lang="en-US" sz="2600" b="1" dirty="0">
                <a:solidFill>
                  <a:srgbClr val="14C7C1"/>
                </a:solidFill>
              </a:rPr>
              <a:t>15%</a:t>
            </a:r>
            <a:endParaRPr lang="en-US" sz="2600" dirty="0"/>
          </a:p>
        </p:txBody>
      </p:sp>
      <p:sp>
        <p:nvSpPr>
          <p:cNvPr id="1048596" name="Text 20"/>
          <p:cNvSpPr/>
          <p:nvPr/>
        </p:nvSpPr>
        <p:spPr>
          <a:xfrm>
            <a:off x="3291840" y="3337560"/>
            <a:ext cx="2651760" cy="274320"/>
          </a:xfrm>
          <a:prstGeom prst="rect">
            <a:avLst/>
          </a:prstGeom>
          <a:noFill/>
        </p:spPr>
        <p:txBody>
          <a:bodyPr wrap="square" lIns="0" tIns="0" rIns="0" bIns="0" rtlCol="0" anchor="ctr"/>
          <a:lstStyle/>
          <a:p>
            <a:pPr marL="0" indent="0" algn="ctr">
              <a:buNone/>
            </a:pPr>
            <a:r>
              <a:rPr lang="en-US" sz="900" dirty="0">
                <a:solidFill>
                  <a:srgbClr val="8DA2B5"/>
                </a:solidFill>
              </a:rPr>
              <a:t>tasa de cancelacion</a:t>
            </a:r>
            <a:endParaRPr lang="en-US" sz="900" dirty="0"/>
          </a:p>
        </p:txBody>
      </p:sp>
      <p:sp>
        <p:nvSpPr>
          <p:cNvPr id="1048597" name="Shape 21"/>
          <p:cNvSpPr/>
          <p:nvPr/>
        </p:nvSpPr>
        <p:spPr>
          <a:xfrm>
            <a:off x="6126480" y="2788920"/>
            <a:ext cx="2651760" cy="914400"/>
          </a:xfrm>
          <a:prstGeom prst="rect">
            <a:avLst/>
          </a:prstGeom>
          <a:solidFill>
            <a:srgbClr val="0D1B2A"/>
          </a:solidFill>
          <a:ln w="12700">
            <a:solidFill>
              <a:srgbClr val="0D1B2A"/>
            </a:solidFill>
            <a:prstDash val="solid"/>
          </a:ln>
          <a:effectLst>
            <a:outerShdw blurRad="101600" dist="38100" dir="8100000" algn="bl" rotWithShape="0">
              <a:srgbClr val="000000">
                <a:alpha val="10000"/>
              </a:srgbClr>
            </a:outerShdw>
          </a:effectLst>
        </p:spPr>
        <p:txBody>
          <a:bodyPr/>
          <a:lstStyle/>
          <a:p>
            <a:endParaRPr lang="es-CO"/>
          </a:p>
        </p:txBody>
      </p:sp>
      <p:sp>
        <p:nvSpPr>
          <p:cNvPr id="1048598" name="Text 22"/>
          <p:cNvSpPr/>
          <p:nvPr/>
        </p:nvSpPr>
        <p:spPr>
          <a:xfrm>
            <a:off x="6126480" y="2880360"/>
            <a:ext cx="2651760" cy="457200"/>
          </a:xfrm>
          <a:prstGeom prst="rect">
            <a:avLst/>
          </a:prstGeom>
          <a:noFill/>
        </p:spPr>
        <p:txBody>
          <a:bodyPr wrap="square" lIns="0" tIns="0" rIns="0" bIns="0" rtlCol="0" anchor="ctr"/>
          <a:lstStyle/>
          <a:p>
            <a:pPr marL="0" indent="0" algn="ctr">
              <a:buNone/>
            </a:pPr>
            <a:r>
              <a:rPr lang="en-US" sz="2600" b="1" dirty="0">
                <a:solidFill>
                  <a:srgbClr val="14C7C1"/>
                </a:solidFill>
              </a:rPr>
              <a:t>8</a:t>
            </a:r>
            <a:endParaRPr lang="en-US" sz="2600" dirty="0"/>
          </a:p>
        </p:txBody>
      </p:sp>
      <p:sp>
        <p:nvSpPr>
          <p:cNvPr id="1048599" name="Text 23"/>
          <p:cNvSpPr/>
          <p:nvPr/>
        </p:nvSpPr>
        <p:spPr>
          <a:xfrm>
            <a:off x="6126480" y="3337560"/>
            <a:ext cx="2651760" cy="274320"/>
          </a:xfrm>
          <a:prstGeom prst="rect">
            <a:avLst/>
          </a:prstGeom>
          <a:noFill/>
        </p:spPr>
        <p:txBody>
          <a:bodyPr wrap="square" lIns="0" tIns="0" rIns="0" bIns="0" rtlCol="0" anchor="ctr"/>
          <a:lstStyle/>
          <a:p>
            <a:pPr marL="0" indent="0" algn="ctr">
              <a:buNone/>
            </a:pPr>
            <a:r>
              <a:rPr lang="en-US" sz="900" dirty="0">
                <a:solidFill>
                  <a:srgbClr val="8DA2B5"/>
                </a:solidFill>
              </a:rPr>
              <a:t>variables de entrada</a:t>
            </a:r>
            <a:endParaRPr lang="en-US" sz="900" dirty="0"/>
          </a:p>
        </p:txBody>
      </p:sp>
      <p:sp>
        <p:nvSpPr>
          <p:cNvPr id="1048600" name="Text 24"/>
          <p:cNvSpPr/>
          <p:nvPr/>
        </p:nvSpPr>
        <p:spPr>
          <a:xfrm>
            <a:off x="457200" y="3931920"/>
            <a:ext cx="8229600" cy="228600"/>
          </a:xfrm>
          <a:prstGeom prst="rect">
            <a:avLst/>
          </a:prstGeom>
          <a:noFill/>
        </p:spPr>
        <p:txBody>
          <a:bodyPr wrap="square" lIns="0" tIns="0" rIns="0" bIns="0" rtlCol="0" anchor="ctr"/>
          <a:lstStyle/>
          <a:p>
            <a:pPr marL="0" indent="0" algn="l">
              <a:buNone/>
            </a:pPr>
            <a:r>
              <a:rPr lang="en-US" sz="800" dirty="0">
                <a:solidFill>
                  <a:srgbClr val="8DA2B5"/>
                </a:solidFill>
              </a:rPr>
              <a:t>Fuente: Kaggle — Ticket Cancellation Prediction Competition</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B"/>
        </a:solidFill>
        <a:effectLst/>
      </p:bgPr>
    </p:bg>
    <p:spTree>
      <p:nvGrpSpPr>
        <p:cNvPr id="1" name=""/>
        <p:cNvGrpSpPr/>
        <p:nvPr/>
      </p:nvGrpSpPr>
      <p:grpSpPr>
        <a:xfrm>
          <a:off x="0" y="0"/>
          <a:ext cx="0" cy="0"/>
          <a:chOff x="0" y="0"/>
          <a:chExt cx="0" cy="0"/>
        </a:xfrm>
      </p:grpSpPr>
      <p:sp>
        <p:nvSpPr>
          <p:cNvPr id="1048604" name="Text 0"/>
          <p:cNvSpPr/>
          <p:nvPr/>
        </p:nvSpPr>
        <p:spPr>
          <a:xfrm>
            <a:off x="8595360" y="182880"/>
            <a:ext cx="457200" cy="274320"/>
          </a:xfrm>
          <a:prstGeom prst="rect">
            <a:avLst/>
          </a:prstGeom>
          <a:noFill/>
        </p:spPr>
        <p:txBody>
          <a:bodyPr wrap="square" lIns="0" tIns="0" rIns="0" bIns="0" rtlCol="0" anchor="ctr"/>
          <a:lstStyle/>
          <a:p>
            <a:pPr marL="0" indent="0" algn="r">
              <a:buNone/>
            </a:pPr>
            <a:r>
              <a:rPr lang="en-US" sz="900" dirty="0">
                <a:solidFill>
                  <a:srgbClr val="8DA2B5"/>
                </a:solidFill>
              </a:rPr>
              <a:t>03</a:t>
            </a:r>
            <a:endParaRPr lang="en-US" sz="900" dirty="0"/>
          </a:p>
        </p:txBody>
      </p:sp>
      <p:sp>
        <p:nvSpPr>
          <p:cNvPr id="1048605" name="Text 1"/>
          <p:cNvSpPr/>
          <p:nvPr/>
        </p:nvSpPr>
        <p:spPr>
          <a:xfrm>
            <a:off x="457200" y="228600"/>
            <a:ext cx="8229600" cy="502920"/>
          </a:xfrm>
          <a:prstGeom prst="rect">
            <a:avLst/>
          </a:prstGeom>
          <a:noFill/>
        </p:spPr>
        <p:txBody>
          <a:bodyPr wrap="square" lIns="0" tIns="0" rIns="0" bIns="0" rtlCol="0" anchor="ctr"/>
          <a:lstStyle/>
          <a:p>
            <a:pPr marL="0" indent="0" algn="l">
              <a:buNone/>
            </a:pPr>
            <a:r>
              <a:rPr lang="es-CO" sz="2600" b="1" noProof="0" dirty="0">
                <a:solidFill>
                  <a:srgbClr val="0D1B2A"/>
                </a:solidFill>
              </a:rPr>
              <a:t>Información del </a:t>
            </a:r>
            <a:r>
              <a:rPr lang="es-CO" sz="2600" b="1" noProof="0" dirty="0" err="1">
                <a:solidFill>
                  <a:srgbClr val="0D1B2A"/>
                </a:solidFill>
              </a:rPr>
              <a:t>dataset</a:t>
            </a:r>
            <a:endParaRPr lang="es-CO" sz="2600" noProof="0" dirty="0"/>
          </a:p>
        </p:txBody>
      </p:sp>
      <p:sp>
        <p:nvSpPr>
          <p:cNvPr id="1048606" name="Shape 2"/>
          <p:cNvSpPr/>
          <p:nvPr/>
        </p:nvSpPr>
        <p:spPr>
          <a:xfrm>
            <a:off x="457200" y="749808"/>
            <a:ext cx="1005840" cy="45720"/>
          </a:xfrm>
          <a:prstGeom prst="rect">
            <a:avLst/>
          </a:prstGeom>
          <a:solidFill>
            <a:srgbClr val="0EA5A0"/>
          </a:solidFill>
          <a:ln w="12700">
            <a:solidFill>
              <a:srgbClr val="0EA5A0"/>
            </a:solidFill>
            <a:prstDash val="solid"/>
          </a:ln>
        </p:spPr>
        <p:txBody>
          <a:bodyPr/>
          <a:lstStyle/>
          <a:p>
            <a:endParaRPr lang="es-CO"/>
          </a:p>
        </p:txBody>
      </p:sp>
      <p:sp>
        <p:nvSpPr>
          <p:cNvPr id="1048607" name="Shape 3"/>
          <p:cNvSpPr/>
          <p:nvPr/>
        </p:nvSpPr>
        <p:spPr>
          <a:xfrm>
            <a:off x="457200" y="960120"/>
            <a:ext cx="8229600" cy="411480"/>
          </a:xfrm>
          <a:prstGeom prst="roundRect">
            <a:avLst>
              <a:gd name="adj" fmla="val 15556"/>
            </a:avLst>
          </a:prstGeom>
          <a:solidFill>
            <a:srgbClr val="0D1B2A"/>
          </a:solidFill>
          <a:ln w="12700">
            <a:solidFill>
              <a:srgbClr val="0D1B2A"/>
            </a:solidFill>
            <a:prstDash val="solid"/>
          </a:ln>
        </p:spPr>
        <p:txBody>
          <a:bodyPr/>
          <a:lstStyle/>
          <a:p>
            <a:endParaRPr lang="es-CO"/>
          </a:p>
        </p:txBody>
      </p:sp>
      <p:sp>
        <p:nvSpPr>
          <p:cNvPr id="1048608" name="Text 4"/>
          <p:cNvSpPr/>
          <p:nvPr/>
        </p:nvSpPr>
        <p:spPr>
          <a:xfrm>
            <a:off x="548640" y="1005840"/>
            <a:ext cx="8046720" cy="320040"/>
          </a:xfrm>
          <a:prstGeom prst="rect">
            <a:avLst/>
          </a:prstGeom>
          <a:noFill/>
        </p:spPr>
        <p:txBody>
          <a:bodyPr wrap="square" lIns="0" tIns="0" rIns="0" bIns="0" rtlCol="0" anchor="ctr"/>
          <a:lstStyle/>
          <a:p>
            <a:pPr marL="0" indent="0" algn="l">
              <a:buNone/>
            </a:pPr>
            <a:r>
              <a:rPr lang="en-US" sz="950" b="1" dirty="0">
                <a:solidFill>
                  <a:srgbClr val="14C7C1"/>
                </a:solidFill>
              </a:rPr>
              <a:t>Fuente: Kaggle  |  Ticket Cancellation Prediction  |  Archivo: train.csv  |  70.711 registros</a:t>
            </a:r>
            <a:endParaRPr lang="en-US" sz="950" dirty="0"/>
          </a:p>
        </p:txBody>
      </p:sp>
      <p:sp>
        <p:nvSpPr>
          <p:cNvPr id="1048609" name="Text 5"/>
          <p:cNvSpPr/>
          <p:nvPr/>
        </p:nvSpPr>
        <p:spPr>
          <a:xfrm>
            <a:off x="457200" y="1508760"/>
            <a:ext cx="5029200" cy="274320"/>
          </a:xfrm>
          <a:prstGeom prst="rect">
            <a:avLst/>
          </a:prstGeom>
          <a:noFill/>
        </p:spPr>
        <p:txBody>
          <a:bodyPr wrap="square" lIns="0" tIns="0" rIns="0" bIns="0" rtlCol="0" anchor="ctr"/>
          <a:lstStyle/>
          <a:p>
            <a:pPr marL="0" indent="0" algn="l">
              <a:buNone/>
            </a:pPr>
            <a:r>
              <a:rPr lang="en-US" sz="1100" b="1" dirty="0">
                <a:solidFill>
                  <a:srgbClr val="0D1B2A"/>
                </a:solidFill>
              </a:rPr>
              <a:t>Variables de entrada (features)</a:t>
            </a:r>
            <a:endParaRPr lang="en-US" sz="1100" dirty="0"/>
          </a:p>
        </p:txBody>
      </p:sp>
      <p:sp>
        <p:nvSpPr>
          <p:cNvPr id="1048610" name="Shape 6"/>
          <p:cNvSpPr/>
          <p:nvPr/>
        </p:nvSpPr>
        <p:spPr>
          <a:xfrm>
            <a:off x="457200" y="1828800"/>
            <a:ext cx="5120640" cy="292608"/>
          </a:xfrm>
          <a:prstGeom prst="rect">
            <a:avLst/>
          </a:prstGeom>
          <a:solidFill>
            <a:srgbClr val="0D1B2A"/>
          </a:solidFill>
          <a:ln w="12700">
            <a:solidFill>
              <a:srgbClr val="0D1B2A"/>
            </a:solidFill>
            <a:prstDash val="solid"/>
          </a:ln>
        </p:spPr>
        <p:txBody>
          <a:bodyPr/>
          <a:lstStyle/>
          <a:p>
            <a:endParaRPr lang="es-CO"/>
          </a:p>
        </p:txBody>
      </p:sp>
      <p:sp>
        <p:nvSpPr>
          <p:cNvPr id="1048611" name="Text 7"/>
          <p:cNvSpPr/>
          <p:nvPr/>
        </p:nvSpPr>
        <p:spPr>
          <a:xfrm>
            <a:off x="502920" y="1865376"/>
            <a:ext cx="1828800" cy="219456"/>
          </a:xfrm>
          <a:prstGeom prst="rect">
            <a:avLst/>
          </a:prstGeom>
          <a:noFill/>
        </p:spPr>
        <p:txBody>
          <a:bodyPr wrap="square" lIns="0" tIns="0" rIns="0" bIns="0" rtlCol="0" anchor="ctr"/>
          <a:lstStyle/>
          <a:p>
            <a:pPr marL="0" indent="0" algn="l">
              <a:buNone/>
            </a:pPr>
            <a:r>
              <a:rPr lang="en-US" sz="850" b="1" dirty="0">
                <a:solidFill>
                  <a:srgbClr val="FFFFFF"/>
                </a:solidFill>
              </a:rPr>
              <a:t>Variable</a:t>
            </a:r>
            <a:endParaRPr lang="en-US" sz="850" dirty="0"/>
          </a:p>
        </p:txBody>
      </p:sp>
      <p:sp>
        <p:nvSpPr>
          <p:cNvPr id="1048612" name="Text 8"/>
          <p:cNvSpPr/>
          <p:nvPr/>
        </p:nvSpPr>
        <p:spPr>
          <a:xfrm>
            <a:off x="2514600" y="1865376"/>
            <a:ext cx="822960" cy="219456"/>
          </a:xfrm>
          <a:prstGeom prst="rect">
            <a:avLst/>
          </a:prstGeom>
          <a:noFill/>
        </p:spPr>
        <p:txBody>
          <a:bodyPr wrap="square" lIns="0" tIns="0" rIns="0" bIns="0" rtlCol="0" anchor="ctr"/>
          <a:lstStyle/>
          <a:p>
            <a:pPr marL="0" indent="0" algn="l">
              <a:buNone/>
            </a:pPr>
            <a:r>
              <a:rPr lang="en-US" sz="850" b="1" dirty="0">
                <a:solidFill>
                  <a:srgbClr val="FFFFFF"/>
                </a:solidFill>
              </a:rPr>
              <a:t>Tipo</a:t>
            </a:r>
            <a:endParaRPr lang="en-US" sz="850" dirty="0"/>
          </a:p>
        </p:txBody>
      </p:sp>
      <p:sp>
        <p:nvSpPr>
          <p:cNvPr id="1048613" name="Text 9"/>
          <p:cNvSpPr/>
          <p:nvPr/>
        </p:nvSpPr>
        <p:spPr>
          <a:xfrm>
            <a:off x="3520440" y="1865376"/>
            <a:ext cx="2103120" cy="219456"/>
          </a:xfrm>
          <a:prstGeom prst="rect">
            <a:avLst/>
          </a:prstGeom>
          <a:noFill/>
        </p:spPr>
        <p:txBody>
          <a:bodyPr wrap="square" lIns="0" tIns="0" rIns="0" bIns="0" rtlCol="0" anchor="ctr"/>
          <a:lstStyle/>
          <a:p>
            <a:pPr marL="0" indent="0" algn="l">
              <a:buNone/>
            </a:pPr>
            <a:r>
              <a:rPr lang="en-US" sz="850" b="1" dirty="0">
                <a:solidFill>
                  <a:srgbClr val="FFFFFF"/>
                </a:solidFill>
              </a:rPr>
              <a:t>Descripcion</a:t>
            </a:r>
            <a:endParaRPr lang="en-US" sz="850" dirty="0"/>
          </a:p>
        </p:txBody>
      </p:sp>
      <p:sp>
        <p:nvSpPr>
          <p:cNvPr id="1048614" name="Shape 10"/>
          <p:cNvSpPr/>
          <p:nvPr/>
        </p:nvSpPr>
        <p:spPr>
          <a:xfrm>
            <a:off x="457200" y="2121408"/>
            <a:ext cx="5120640" cy="292608"/>
          </a:xfrm>
          <a:prstGeom prst="rect">
            <a:avLst/>
          </a:prstGeom>
          <a:solidFill>
            <a:srgbClr val="FFFFFF"/>
          </a:solidFill>
          <a:ln w="3810">
            <a:solidFill>
              <a:srgbClr val="D0DDE8"/>
            </a:solidFill>
            <a:prstDash val="solid"/>
          </a:ln>
        </p:spPr>
        <p:txBody>
          <a:bodyPr/>
          <a:lstStyle/>
          <a:p>
            <a:endParaRPr lang="es-CO"/>
          </a:p>
        </p:txBody>
      </p:sp>
      <p:sp>
        <p:nvSpPr>
          <p:cNvPr id="1048615" name="Text 11"/>
          <p:cNvSpPr/>
          <p:nvPr/>
        </p:nvSpPr>
        <p:spPr>
          <a:xfrm>
            <a:off x="502920" y="2157984"/>
            <a:ext cx="1965960" cy="219456"/>
          </a:xfrm>
          <a:prstGeom prst="rect">
            <a:avLst/>
          </a:prstGeom>
          <a:noFill/>
        </p:spPr>
        <p:txBody>
          <a:bodyPr wrap="square" lIns="0" tIns="0" rIns="0" bIns="0" rtlCol="0" anchor="ctr"/>
          <a:lstStyle/>
          <a:p>
            <a:pPr marL="0" indent="0" algn="l">
              <a:buNone/>
            </a:pPr>
            <a:r>
              <a:rPr lang="en-US" sz="800" b="1" dirty="0">
                <a:solidFill>
                  <a:srgbClr val="0EA5A0"/>
                </a:solidFill>
                <a:latin typeface="Consolas" pitchFamily="34" charset="0"/>
                <a:ea typeface="Consolas" pitchFamily="34" charset="-122"/>
                <a:cs typeface="Consolas" pitchFamily="34" charset="-120"/>
              </a:rPr>
              <a:t>dias_anticipacion</a:t>
            </a:r>
            <a:endParaRPr lang="en-US" sz="800" dirty="0"/>
          </a:p>
        </p:txBody>
      </p:sp>
      <p:sp>
        <p:nvSpPr>
          <p:cNvPr id="1048616" name="Text 12"/>
          <p:cNvSpPr/>
          <p:nvPr/>
        </p:nvSpPr>
        <p:spPr>
          <a:xfrm>
            <a:off x="2514600" y="2157984"/>
            <a:ext cx="960120" cy="219456"/>
          </a:xfrm>
          <a:prstGeom prst="rect">
            <a:avLst/>
          </a:prstGeom>
          <a:noFill/>
        </p:spPr>
        <p:txBody>
          <a:bodyPr wrap="square" lIns="0" tIns="0" rIns="0" bIns="0" rtlCol="0" anchor="ctr"/>
          <a:lstStyle/>
          <a:p>
            <a:pPr marL="0" indent="0" algn="l">
              <a:buNone/>
            </a:pPr>
            <a:r>
              <a:rPr lang="en-US" sz="800" dirty="0">
                <a:solidFill>
                  <a:srgbClr val="0D1B2A"/>
                </a:solidFill>
              </a:rPr>
              <a:t>Numerica</a:t>
            </a:r>
            <a:endParaRPr lang="en-US" sz="800" dirty="0"/>
          </a:p>
        </p:txBody>
      </p:sp>
      <p:sp>
        <p:nvSpPr>
          <p:cNvPr id="1048617" name="Text 13"/>
          <p:cNvSpPr/>
          <p:nvPr/>
        </p:nvSpPr>
        <p:spPr>
          <a:xfrm>
            <a:off x="3520440" y="2157984"/>
            <a:ext cx="2011680" cy="219456"/>
          </a:xfrm>
          <a:prstGeom prst="rect">
            <a:avLst/>
          </a:prstGeom>
          <a:noFill/>
        </p:spPr>
        <p:txBody>
          <a:bodyPr wrap="square" lIns="0" tIns="0" rIns="0" bIns="0" rtlCol="0" anchor="ctr"/>
          <a:lstStyle/>
          <a:p>
            <a:pPr marL="0" indent="0" algn="l">
              <a:buNone/>
            </a:pPr>
            <a:r>
              <a:rPr lang="en-US" sz="800" dirty="0">
                <a:solidFill>
                  <a:srgbClr val="0D1B2A"/>
                </a:solidFill>
              </a:rPr>
              <a:t>Dias entre compra del tiquete y fecha de salida</a:t>
            </a:r>
            <a:endParaRPr lang="en-US" sz="800" dirty="0"/>
          </a:p>
        </p:txBody>
      </p:sp>
      <p:sp>
        <p:nvSpPr>
          <p:cNvPr id="1048618" name="Shape 14"/>
          <p:cNvSpPr/>
          <p:nvPr/>
        </p:nvSpPr>
        <p:spPr>
          <a:xfrm>
            <a:off x="457200" y="2414016"/>
            <a:ext cx="5120640" cy="292608"/>
          </a:xfrm>
          <a:prstGeom prst="rect">
            <a:avLst/>
          </a:prstGeom>
          <a:solidFill>
            <a:srgbClr val="E8F0F5"/>
          </a:solidFill>
          <a:ln w="3810">
            <a:solidFill>
              <a:srgbClr val="D0DDE8"/>
            </a:solidFill>
            <a:prstDash val="solid"/>
          </a:ln>
        </p:spPr>
        <p:txBody>
          <a:bodyPr/>
          <a:lstStyle/>
          <a:p>
            <a:endParaRPr lang="es-CO"/>
          </a:p>
        </p:txBody>
      </p:sp>
      <p:sp>
        <p:nvSpPr>
          <p:cNvPr id="1048619" name="Text 15"/>
          <p:cNvSpPr/>
          <p:nvPr/>
        </p:nvSpPr>
        <p:spPr>
          <a:xfrm>
            <a:off x="502920" y="2450592"/>
            <a:ext cx="1965960" cy="219456"/>
          </a:xfrm>
          <a:prstGeom prst="rect">
            <a:avLst/>
          </a:prstGeom>
          <a:noFill/>
        </p:spPr>
        <p:txBody>
          <a:bodyPr wrap="square" lIns="0" tIns="0" rIns="0" bIns="0" rtlCol="0" anchor="ctr"/>
          <a:lstStyle/>
          <a:p>
            <a:pPr marL="0" indent="0" algn="l">
              <a:buNone/>
            </a:pPr>
            <a:r>
              <a:rPr lang="en-US" sz="800" b="1" dirty="0">
                <a:solidFill>
                  <a:srgbClr val="0EA5A0"/>
                </a:solidFill>
                <a:latin typeface="Consolas" pitchFamily="34" charset="0"/>
                <a:ea typeface="Consolas" pitchFamily="34" charset="-122"/>
                <a:cs typeface="Consolas" pitchFamily="34" charset="-120"/>
              </a:rPr>
              <a:t>Price</a:t>
            </a:r>
            <a:endParaRPr lang="en-US" sz="800" dirty="0"/>
          </a:p>
        </p:txBody>
      </p:sp>
      <p:sp>
        <p:nvSpPr>
          <p:cNvPr id="1048620" name="Text 16"/>
          <p:cNvSpPr/>
          <p:nvPr/>
        </p:nvSpPr>
        <p:spPr>
          <a:xfrm>
            <a:off x="2514600" y="2450592"/>
            <a:ext cx="960120" cy="219456"/>
          </a:xfrm>
          <a:prstGeom prst="rect">
            <a:avLst/>
          </a:prstGeom>
          <a:noFill/>
        </p:spPr>
        <p:txBody>
          <a:bodyPr wrap="square" lIns="0" tIns="0" rIns="0" bIns="0" rtlCol="0" anchor="ctr"/>
          <a:lstStyle/>
          <a:p>
            <a:pPr marL="0" indent="0" algn="l">
              <a:buNone/>
            </a:pPr>
            <a:r>
              <a:rPr lang="en-US" sz="800" dirty="0">
                <a:solidFill>
                  <a:srgbClr val="0D1B2A"/>
                </a:solidFill>
              </a:rPr>
              <a:t>Numerica</a:t>
            </a:r>
            <a:endParaRPr lang="en-US" sz="800" dirty="0"/>
          </a:p>
        </p:txBody>
      </p:sp>
      <p:sp>
        <p:nvSpPr>
          <p:cNvPr id="1048621" name="Text 17"/>
          <p:cNvSpPr/>
          <p:nvPr/>
        </p:nvSpPr>
        <p:spPr>
          <a:xfrm>
            <a:off x="3520440" y="2450592"/>
            <a:ext cx="2011680" cy="219456"/>
          </a:xfrm>
          <a:prstGeom prst="rect">
            <a:avLst/>
          </a:prstGeom>
          <a:noFill/>
        </p:spPr>
        <p:txBody>
          <a:bodyPr wrap="square" lIns="0" tIns="0" rIns="0" bIns="0" rtlCol="0" anchor="ctr"/>
          <a:lstStyle/>
          <a:p>
            <a:pPr marL="0" indent="0" algn="l">
              <a:buNone/>
            </a:pPr>
            <a:r>
              <a:rPr lang="en-US" sz="800" dirty="0">
                <a:solidFill>
                  <a:srgbClr val="0D1B2A"/>
                </a:solidFill>
              </a:rPr>
              <a:t>Precio pagado por el tiquete</a:t>
            </a:r>
            <a:endParaRPr lang="en-US" sz="800" dirty="0"/>
          </a:p>
        </p:txBody>
      </p:sp>
      <p:sp>
        <p:nvSpPr>
          <p:cNvPr id="1048622" name="Shape 18"/>
          <p:cNvSpPr/>
          <p:nvPr/>
        </p:nvSpPr>
        <p:spPr>
          <a:xfrm>
            <a:off x="457200" y="2706624"/>
            <a:ext cx="5120640" cy="292608"/>
          </a:xfrm>
          <a:prstGeom prst="rect">
            <a:avLst/>
          </a:prstGeom>
          <a:solidFill>
            <a:srgbClr val="FFFFFF"/>
          </a:solidFill>
          <a:ln w="3810">
            <a:solidFill>
              <a:srgbClr val="D0DDE8"/>
            </a:solidFill>
            <a:prstDash val="solid"/>
          </a:ln>
        </p:spPr>
        <p:txBody>
          <a:bodyPr/>
          <a:lstStyle/>
          <a:p>
            <a:endParaRPr lang="es-CO"/>
          </a:p>
        </p:txBody>
      </p:sp>
      <p:sp>
        <p:nvSpPr>
          <p:cNvPr id="1048623" name="Text 19"/>
          <p:cNvSpPr/>
          <p:nvPr/>
        </p:nvSpPr>
        <p:spPr>
          <a:xfrm>
            <a:off x="502920" y="2743200"/>
            <a:ext cx="1965960" cy="219456"/>
          </a:xfrm>
          <a:prstGeom prst="rect">
            <a:avLst/>
          </a:prstGeom>
          <a:noFill/>
        </p:spPr>
        <p:txBody>
          <a:bodyPr wrap="square" lIns="0" tIns="0" rIns="0" bIns="0" rtlCol="0" anchor="ctr"/>
          <a:lstStyle/>
          <a:p>
            <a:pPr marL="0" indent="0" algn="l">
              <a:buNone/>
            </a:pPr>
            <a:r>
              <a:rPr lang="en-US" sz="800" b="1" dirty="0">
                <a:solidFill>
                  <a:srgbClr val="0EA5A0"/>
                </a:solidFill>
                <a:latin typeface="Consolas" pitchFamily="34" charset="0"/>
                <a:ea typeface="Consolas" pitchFamily="34" charset="-122"/>
                <a:cs typeface="Consolas" pitchFamily="34" charset="-120"/>
              </a:rPr>
              <a:t>Discounts</a:t>
            </a:r>
            <a:endParaRPr lang="en-US" sz="800" dirty="0"/>
          </a:p>
        </p:txBody>
      </p:sp>
      <p:sp>
        <p:nvSpPr>
          <p:cNvPr id="1048624" name="Text 20"/>
          <p:cNvSpPr/>
          <p:nvPr/>
        </p:nvSpPr>
        <p:spPr>
          <a:xfrm>
            <a:off x="2514600" y="2743200"/>
            <a:ext cx="960120" cy="219456"/>
          </a:xfrm>
          <a:prstGeom prst="rect">
            <a:avLst/>
          </a:prstGeom>
          <a:noFill/>
        </p:spPr>
        <p:txBody>
          <a:bodyPr wrap="square" lIns="0" tIns="0" rIns="0" bIns="0" rtlCol="0" anchor="ctr"/>
          <a:lstStyle/>
          <a:p>
            <a:pPr marL="0" indent="0" algn="l">
              <a:buNone/>
            </a:pPr>
            <a:r>
              <a:rPr lang="en-US" sz="800" dirty="0">
                <a:solidFill>
                  <a:srgbClr val="0D1B2A"/>
                </a:solidFill>
              </a:rPr>
              <a:t>Numerica</a:t>
            </a:r>
            <a:endParaRPr lang="en-US" sz="800" dirty="0"/>
          </a:p>
        </p:txBody>
      </p:sp>
      <p:sp>
        <p:nvSpPr>
          <p:cNvPr id="1048625" name="Text 21"/>
          <p:cNvSpPr/>
          <p:nvPr/>
        </p:nvSpPr>
        <p:spPr>
          <a:xfrm>
            <a:off x="3520440" y="2743200"/>
            <a:ext cx="2011680" cy="219456"/>
          </a:xfrm>
          <a:prstGeom prst="rect">
            <a:avLst/>
          </a:prstGeom>
          <a:noFill/>
        </p:spPr>
        <p:txBody>
          <a:bodyPr wrap="square" lIns="0" tIns="0" rIns="0" bIns="0" rtlCol="0" anchor="ctr"/>
          <a:lstStyle/>
          <a:p>
            <a:pPr marL="0" indent="0" algn="l">
              <a:buNone/>
            </a:pPr>
            <a:r>
              <a:rPr lang="en-US" sz="800" dirty="0">
                <a:solidFill>
                  <a:srgbClr val="0D1B2A"/>
                </a:solidFill>
              </a:rPr>
              <a:t>Descuento aplicado a la reserva</a:t>
            </a:r>
            <a:endParaRPr lang="en-US" sz="800" dirty="0"/>
          </a:p>
        </p:txBody>
      </p:sp>
      <p:sp>
        <p:nvSpPr>
          <p:cNvPr id="1048626" name="Shape 22"/>
          <p:cNvSpPr/>
          <p:nvPr/>
        </p:nvSpPr>
        <p:spPr>
          <a:xfrm>
            <a:off x="457200" y="2999232"/>
            <a:ext cx="5120640" cy="292608"/>
          </a:xfrm>
          <a:prstGeom prst="rect">
            <a:avLst/>
          </a:prstGeom>
          <a:solidFill>
            <a:srgbClr val="E8F0F5"/>
          </a:solidFill>
          <a:ln w="3810">
            <a:solidFill>
              <a:srgbClr val="D0DDE8"/>
            </a:solidFill>
            <a:prstDash val="solid"/>
          </a:ln>
        </p:spPr>
        <p:txBody>
          <a:bodyPr/>
          <a:lstStyle/>
          <a:p>
            <a:endParaRPr lang="es-CO"/>
          </a:p>
        </p:txBody>
      </p:sp>
      <p:sp>
        <p:nvSpPr>
          <p:cNvPr id="1048627" name="Text 23"/>
          <p:cNvSpPr/>
          <p:nvPr/>
        </p:nvSpPr>
        <p:spPr>
          <a:xfrm>
            <a:off x="502920" y="3035808"/>
            <a:ext cx="1965960" cy="219456"/>
          </a:xfrm>
          <a:prstGeom prst="rect">
            <a:avLst/>
          </a:prstGeom>
          <a:noFill/>
        </p:spPr>
        <p:txBody>
          <a:bodyPr wrap="square" lIns="0" tIns="0" rIns="0" bIns="0" rtlCol="0" anchor="ctr"/>
          <a:lstStyle/>
          <a:p>
            <a:pPr marL="0" indent="0" algn="l">
              <a:buNone/>
            </a:pPr>
            <a:r>
              <a:rPr lang="en-US" sz="800" b="1" dirty="0">
                <a:solidFill>
                  <a:srgbClr val="0EA5A0"/>
                </a:solidFill>
                <a:latin typeface="Consolas" pitchFamily="34" charset="0"/>
                <a:ea typeface="Consolas" pitchFamily="34" charset="-122"/>
                <a:cs typeface="Consolas" pitchFamily="34" charset="-120"/>
              </a:rPr>
              <a:t>Gender-Male</a:t>
            </a:r>
            <a:endParaRPr lang="en-US" sz="800" dirty="0"/>
          </a:p>
        </p:txBody>
      </p:sp>
      <p:sp>
        <p:nvSpPr>
          <p:cNvPr id="1048628" name="Text 24"/>
          <p:cNvSpPr/>
          <p:nvPr/>
        </p:nvSpPr>
        <p:spPr>
          <a:xfrm>
            <a:off x="2514600" y="3035808"/>
            <a:ext cx="960120" cy="219456"/>
          </a:xfrm>
          <a:prstGeom prst="rect">
            <a:avLst/>
          </a:prstGeom>
          <a:noFill/>
        </p:spPr>
        <p:txBody>
          <a:bodyPr wrap="square" lIns="0" tIns="0" rIns="0" bIns="0" rtlCol="0" anchor="ctr"/>
          <a:lstStyle/>
          <a:p>
            <a:pPr marL="0" indent="0" algn="l">
              <a:buNone/>
            </a:pPr>
            <a:r>
              <a:rPr lang="en-US" sz="800" dirty="0">
                <a:solidFill>
                  <a:srgbClr val="0D1B2A"/>
                </a:solidFill>
              </a:rPr>
              <a:t>Binaria</a:t>
            </a:r>
            <a:endParaRPr lang="en-US" sz="800" dirty="0"/>
          </a:p>
        </p:txBody>
      </p:sp>
      <p:sp>
        <p:nvSpPr>
          <p:cNvPr id="1048629" name="Text 25"/>
          <p:cNvSpPr/>
          <p:nvPr/>
        </p:nvSpPr>
        <p:spPr>
          <a:xfrm>
            <a:off x="3520440" y="3035808"/>
            <a:ext cx="2011680" cy="219456"/>
          </a:xfrm>
          <a:prstGeom prst="rect">
            <a:avLst/>
          </a:prstGeom>
          <a:noFill/>
        </p:spPr>
        <p:txBody>
          <a:bodyPr wrap="square" lIns="0" tIns="0" rIns="0" bIns="0" rtlCol="0" anchor="ctr"/>
          <a:lstStyle/>
          <a:p>
            <a:pPr marL="0" indent="0" algn="l">
              <a:buNone/>
            </a:pPr>
            <a:r>
              <a:rPr lang="en-US" sz="800" dirty="0">
                <a:solidFill>
                  <a:srgbClr val="0D1B2A"/>
                </a:solidFill>
              </a:rPr>
              <a:t>Genero del comprador (1=hombre, 0=mujer)</a:t>
            </a:r>
            <a:endParaRPr lang="en-US" sz="800" dirty="0"/>
          </a:p>
        </p:txBody>
      </p:sp>
      <p:sp>
        <p:nvSpPr>
          <p:cNvPr id="1048630" name="Shape 26"/>
          <p:cNvSpPr/>
          <p:nvPr/>
        </p:nvSpPr>
        <p:spPr>
          <a:xfrm>
            <a:off x="457200" y="3291840"/>
            <a:ext cx="5120640" cy="292608"/>
          </a:xfrm>
          <a:prstGeom prst="rect">
            <a:avLst/>
          </a:prstGeom>
          <a:solidFill>
            <a:srgbClr val="FFFFFF"/>
          </a:solidFill>
          <a:ln w="3810">
            <a:solidFill>
              <a:srgbClr val="D0DDE8"/>
            </a:solidFill>
            <a:prstDash val="solid"/>
          </a:ln>
        </p:spPr>
        <p:txBody>
          <a:bodyPr/>
          <a:lstStyle/>
          <a:p>
            <a:endParaRPr lang="es-CO"/>
          </a:p>
        </p:txBody>
      </p:sp>
      <p:sp>
        <p:nvSpPr>
          <p:cNvPr id="1048631" name="Text 27"/>
          <p:cNvSpPr/>
          <p:nvPr/>
        </p:nvSpPr>
        <p:spPr>
          <a:xfrm>
            <a:off x="502920" y="3328416"/>
            <a:ext cx="1965960" cy="219456"/>
          </a:xfrm>
          <a:prstGeom prst="rect">
            <a:avLst/>
          </a:prstGeom>
          <a:noFill/>
        </p:spPr>
        <p:txBody>
          <a:bodyPr wrap="square" lIns="0" tIns="0" rIns="0" bIns="0" rtlCol="0" anchor="ctr"/>
          <a:lstStyle/>
          <a:p>
            <a:pPr marL="0" indent="0" algn="l">
              <a:buNone/>
            </a:pPr>
            <a:r>
              <a:rPr lang="en-US" sz="800" b="1" dirty="0">
                <a:solidFill>
                  <a:srgbClr val="0EA5A0"/>
                </a:solidFill>
                <a:latin typeface="Consolas" pitchFamily="34" charset="0"/>
                <a:ea typeface="Consolas" pitchFamily="34" charset="-122"/>
                <a:cs typeface="Consolas" pitchFamily="34" charset="-120"/>
              </a:rPr>
              <a:t>DomesticFlight</a:t>
            </a:r>
            <a:endParaRPr lang="en-US" sz="800" dirty="0"/>
          </a:p>
        </p:txBody>
      </p:sp>
      <p:sp>
        <p:nvSpPr>
          <p:cNvPr id="1048632" name="Text 28"/>
          <p:cNvSpPr/>
          <p:nvPr/>
        </p:nvSpPr>
        <p:spPr>
          <a:xfrm>
            <a:off x="2514600" y="3328416"/>
            <a:ext cx="960120" cy="219456"/>
          </a:xfrm>
          <a:prstGeom prst="rect">
            <a:avLst/>
          </a:prstGeom>
          <a:noFill/>
        </p:spPr>
        <p:txBody>
          <a:bodyPr wrap="square" lIns="0" tIns="0" rIns="0" bIns="0" rtlCol="0" anchor="ctr"/>
          <a:lstStyle/>
          <a:p>
            <a:pPr marL="0" indent="0" algn="l">
              <a:buNone/>
            </a:pPr>
            <a:r>
              <a:rPr lang="en-US" sz="800" dirty="0">
                <a:solidFill>
                  <a:srgbClr val="0D1B2A"/>
                </a:solidFill>
              </a:rPr>
              <a:t>Binaria</a:t>
            </a:r>
            <a:endParaRPr lang="en-US" sz="800" dirty="0"/>
          </a:p>
        </p:txBody>
      </p:sp>
      <p:sp>
        <p:nvSpPr>
          <p:cNvPr id="1048633" name="Text 29"/>
          <p:cNvSpPr/>
          <p:nvPr/>
        </p:nvSpPr>
        <p:spPr>
          <a:xfrm>
            <a:off x="3520440" y="3328416"/>
            <a:ext cx="2011680" cy="219456"/>
          </a:xfrm>
          <a:prstGeom prst="rect">
            <a:avLst/>
          </a:prstGeom>
          <a:noFill/>
        </p:spPr>
        <p:txBody>
          <a:bodyPr wrap="square" lIns="0" tIns="0" rIns="0" bIns="0" rtlCol="0" anchor="ctr"/>
          <a:lstStyle/>
          <a:p>
            <a:pPr marL="0" indent="0" algn="l">
              <a:buNone/>
            </a:pPr>
            <a:r>
              <a:rPr lang="en-US" sz="800" dirty="0">
                <a:solidFill>
                  <a:srgbClr val="0D1B2A"/>
                </a:solidFill>
              </a:rPr>
              <a:t>Viaje nacional (1) o internacional (0)</a:t>
            </a:r>
            <a:endParaRPr lang="en-US" sz="800" dirty="0"/>
          </a:p>
        </p:txBody>
      </p:sp>
      <p:sp>
        <p:nvSpPr>
          <p:cNvPr id="1048634" name="Shape 30"/>
          <p:cNvSpPr/>
          <p:nvPr/>
        </p:nvSpPr>
        <p:spPr>
          <a:xfrm>
            <a:off x="457200" y="3584448"/>
            <a:ext cx="5120640" cy="292608"/>
          </a:xfrm>
          <a:prstGeom prst="rect">
            <a:avLst/>
          </a:prstGeom>
          <a:solidFill>
            <a:srgbClr val="E8F0F5"/>
          </a:solidFill>
          <a:ln w="3810">
            <a:solidFill>
              <a:srgbClr val="D0DDE8"/>
            </a:solidFill>
            <a:prstDash val="solid"/>
          </a:ln>
        </p:spPr>
        <p:txBody>
          <a:bodyPr/>
          <a:lstStyle/>
          <a:p>
            <a:endParaRPr lang="es-CO"/>
          </a:p>
        </p:txBody>
      </p:sp>
      <p:sp>
        <p:nvSpPr>
          <p:cNvPr id="1048635" name="Text 31"/>
          <p:cNvSpPr/>
          <p:nvPr/>
        </p:nvSpPr>
        <p:spPr>
          <a:xfrm>
            <a:off x="502920" y="3621024"/>
            <a:ext cx="1965960" cy="219456"/>
          </a:xfrm>
          <a:prstGeom prst="rect">
            <a:avLst/>
          </a:prstGeom>
          <a:noFill/>
        </p:spPr>
        <p:txBody>
          <a:bodyPr wrap="square" lIns="0" tIns="0" rIns="0" bIns="0" rtlCol="0" anchor="ctr"/>
          <a:lstStyle/>
          <a:p>
            <a:pPr marL="0" indent="0" algn="l">
              <a:buNone/>
            </a:pPr>
            <a:r>
              <a:rPr lang="en-US" sz="800" b="1" dirty="0">
                <a:solidFill>
                  <a:srgbClr val="0EA5A0"/>
                </a:solidFill>
                <a:latin typeface="Consolas" pitchFamily="34" charset="0"/>
                <a:ea typeface="Consolas" pitchFamily="34" charset="-122"/>
                <a:cs typeface="Consolas" pitchFamily="34" charset="-120"/>
              </a:rPr>
              <a:t>ModeOfTravel</a:t>
            </a:r>
            <a:endParaRPr lang="en-US" sz="800" dirty="0"/>
          </a:p>
        </p:txBody>
      </p:sp>
      <p:sp>
        <p:nvSpPr>
          <p:cNvPr id="1048636" name="Text 32"/>
          <p:cNvSpPr/>
          <p:nvPr/>
        </p:nvSpPr>
        <p:spPr>
          <a:xfrm>
            <a:off x="2514600" y="3621024"/>
            <a:ext cx="960120" cy="219456"/>
          </a:xfrm>
          <a:prstGeom prst="rect">
            <a:avLst/>
          </a:prstGeom>
          <a:noFill/>
        </p:spPr>
        <p:txBody>
          <a:bodyPr wrap="square" lIns="0" tIns="0" rIns="0" bIns="0" rtlCol="0" anchor="ctr"/>
          <a:lstStyle/>
          <a:p>
            <a:pPr marL="0" indent="0" algn="l">
              <a:buNone/>
            </a:pPr>
            <a:r>
              <a:rPr lang="en-US" sz="800" dirty="0">
                <a:solidFill>
                  <a:srgbClr val="0D1B2A"/>
                </a:solidFill>
              </a:rPr>
              <a:t>Categorica</a:t>
            </a:r>
            <a:endParaRPr lang="en-US" sz="800" dirty="0"/>
          </a:p>
        </p:txBody>
      </p:sp>
      <p:sp>
        <p:nvSpPr>
          <p:cNvPr id="1048637" name="Text 33"/>
          <p:cNvSpPr/>
          <p:nvPr/>
        </p:nvSpPr>
        <p:spPr>
          <a:xfrm>
            <a:off x="3520440" y="3621024"/>
            <a:ext cx="2011680" cy="219456"/>
          </a:xfrm>
          <a:prstGeom prst="rect">
            <a:avLst/>
          </a:prstGeom>
          <a:noFill/>
        </p:spPr>
        <p:txBody>
          <a:bodyPr wrap="square" lIns="0" tIns="0" rIns="0" bIns="0" rtlCol="0" anchor="ctr"/>
          <a:lstStyle/>
          <a:p>
            <a:pPr marL="0" indent="0" algn="l">
              <a:buNone/>
            </a:pPr>
            <a:r>
              <a:rPr lang="en-US" sz="800" dirty="0">
                <a:solidFill>
                  <a:srgbClr val="0D1B2A"/>
                </a:solidFill>
              </a:rPr>
              <a:t>Medio de transporte: Bus (0), Avion de vuelo Internacional (1), avi</a:t>
            </a:r>
            <a:r>
              <a:rPr lang="es-ES" altLang="en-US" sz="800" dirty="0">
                <a:solidFill>
                  <a:srgbClr val="0D1B2A"/>
                </a:solidFill>
              </a:rPr>
              <a:t>ón </a:t>
            </a:r>
            <a:r>
              <a:rPr lang="en-US" altLang="en-US" sz="800" dirty="0">
                <a:solidFill>
                  <a:srgbClr val="0D1B2A"/>
                </a:solidFill>
              </a:rPr>
              <a:t>(2), tren (3)</a:t>
            </a:r>
            <a:endParaRPr lang="en-US" sz="800" dirty="0"/>
          </a:p>
        </p:txBody>
      </p:sp>
      <p:sp>
        <p:nvSpPr>
          <p:cNvPr id="1048638" name="Shape 34"/>
          <p:cNvSpPr/>
          <p:nvPr/>
        </p:nvSpPr>
        <p:spPr>
          <a:xfrm>
            <a:off x="457200" y="3877056"/>
            <a:ext cx="5120640" cy="292608"/>
          </a:xfrm>
          <a:prstGeom prst="rect">
            <a:avLst/>
          </a:prstGeom>
          <a:solidFill>
            <a:srgbClr val="FFFFFF"/>
          </a:solidFill>
          <a:ln w="3810">
            <a:solidFill>
              <a:srgbClr val="D0DDE8"/>
            </a:solidFill>
            <a:prstDash val="solid"/>
          </a:ln>
        </p:spPr>
        <p:txBody>
          <a:bodyPr/>
          <a:lstStyle/>
          <a:p>
            <a:endParaRPr lang="es-CO"/>
          </a:p>
        </p:txBody>
      </p:sp>
      <p:sp>
        <p:nvSpPr>
          <p:cNvPr id="1048639" name="Text 35"/>
          <p:cNvSpPr/>
          <p:nvPr/>
        </p:nvSpPr>
        <p:spPr>
          <a:xfrm>
            <a:off x="502920" y="3913632"/>
            <a:ext cx="1965960" cy="219456"/>
          </a:xfrm>
          <a:prstGeom prst="rect">
            <a:avLst/>
          </a:prstGeom>
          <a:noFill/>
        </p:spPr>
        <p:txBody>
          <a:bodyPr wrap="square" lIns="0" tIns="0" rIns="0" bIns="0" rtlCol="0" anchor="ctr"/>
          <a:lstStyle/>
          <a:p>
            <a:pPr marL="0" indent="0" algn="l">
              <a:buNone/>
            </a:pPr>
            <a:r>
              <a:rPr lang="en-US" sz="800" b="1" dirty="0">
                <a:solidFill>
                  <a:srgbClr val="0EA5A0"/>
                </a:solidFill>
                <a:latin typeface="Consolas" pitchFamily="34" charset="0"/>
                <a:ea typeface="Consolas" pitchFamily="34" charset="-122"/>
                <a:cs typeface="Consolas" pitchFamily="34" charset="-120"/>
              </a:rPr>
              <a:t>ReasonForTrip</a:t>
            </a:r>
            <a:endParaRPr lang="en-US" sz="800" dirty="0"/>
          </a:p>
        </p:txBody>
      </p:sp>
      <p:sp>
        <p:nvSpPr>
          <p:cNvPr id="1048640" name="Text 36"/>
          <p:cNvSpPr/>
          <p:nvPr/>
        </p:nvSpPr>
        <p:spPr>
          <a:xfrm>
            <a:off x="2514600" y="3913632"/>
            <a:ext cx="960120" cy="219456"/>
          </a:xfrm>
          <a:prstGeom prst="rect">
            <a:avLst/>
          </a:prstGeom>
          <a:noFill/>
        </p:spPr>
        <p:txBody>
          <a:bodyPr wrap="square" lIns="0" tIns="0" rIns="0" bIns="0" rtlCol="0" anchor="ctr"/>
          <a:lstStyle/>
          <a:p>
            <a:pPr marL="0" indent="0" algn="l">
              <a:buNone/>
            </a:pPr>
            <a:r>
              <a:rPr lang="en-US" sz="800" dirty="0">
                <a:solidFill>
                  <a:srgbClr val="0D1B2A"/>
                </a:solidFill>
              </a:rPr>
              <a:t>Categorica</a:t>
            </a:r>
            <a:endParaRPr lang="en-US" sz="800" dirty="0"/>
          </a:p>
        </p:txBody>
      </p:sp>
      <p:sp>
        <p:nvSpPr>
          <p:cNvPr id="1048641" name="Text 37"/>
          <p:cNvSpPr/>
          <p:nvPr/>
        </p:nvSpPr>
        <p:spPr>
          <a:xfrm>
            <a:off x="3520440" y="3913632"/>
            <a:ext cx="2011680" cy="219456"/>
          </a:xfrm>
          <a:prstGeom prst="rect">
            <a:avLst/>
          </a:prstGeom>
          <a:noFill/>
        </p:spPr>
        <p:txBody>
          <a:bodyPr wrap="square" lIns="0" tIns="0" rIns="0" bIns="0" rtlCol="0" anchor="ctr"/>
          <a:lstStyle/>
          <a:p>
            <a:pPr marL="0" indent="0" algn="l">
              <a:buNone/>
            </a:pPr>
            <a:r>
              <a:rPr lang="en-US" sz="800" dirty="0">
                <a:solidFill>
                  <a:srgbClr val="0D1B2A"/>
                </a:solidFill>
              </a:rPr>
              <a:t>Motivo del viaje: trabajo o personal</a:t>
            </a:r>
            <a:endParaRPr lang="en-US" sz="800" dirty="0"/>
          </a:p>
        </p:txBody>
      </p:sp>
      <p:sp>
        <p:nvSpPr>
          <p:cNvPr id="1048642" name="Shape 38"/>
          <p:cNvSpPr/>
          <p:nvPr/>
        </p:nvSpPr>
        <p:spPr>
          <a:xfrm>
            <a:off x="457200" y="4169664"/>
            <a:ext cx="5120640" cy="292608"/>
          </a:xfrm>
          <a:prstGeom prst="rect">
            <a:avLst/>
          </a:prstGeom>
          <a:solidFill>
            <a:srgbClr val="E8F0F5"/>
          </a:solidFill>
          <a:ln w="3810">
            <a:solidFill>
              <a:srgbClr val="D0DDE8"/>
            </a:solidFill>
            <a:prstDash val="solid"/>
          </a:ln>
        </p:spPr>
        <p:txBody>
          <a:bodyPr/>
          <a:lstStyle/>
          <a:p>
            <a:endParaRPr lang="es-CO"/>
          </a:p>
        </p:txBody>
      </p:sp>
      <p:sp>
        <p:nvSpPr>
          <p:cNvPr id="1048643" name="Text 39"/>
          <p:cNvSpPr/>
          <p:nvPr/>
        </p:nvSpPr>
        <p:spPr>
          <a:xfrm>
            <a:off x="502920" y="4206240"/>
            <a:ext cx="1965960" cy="219456"/>
          </a:xfrm>
          <a:prstGeom prst="rect">
            <a:avLst/>
          </a:prstGeom>
          <a:noFill/>
        </p:spPr>
        <p:txBody>
          <a:bodyPr wrap="square" lIns="0" tIns="0" rIns="0" bIns="0" rtlCol="0" anchor="ctr"/>
          <a:lstStyle/>
          <a:p>
            <a:pPr marL="0" indent="0" algn="l">
              <a:buNone/>
            </a:pPr>
            <a:r>
              <a:rPr lang="en-US" sz="800" b="1" dirty="0">
                <a:solidFill>
                  <a:srgbClr val="0EA5A0"/>
                </a:solidFill>
                <a:latin typeface="Consolas" pitchFamily="34" charset="0"/>
                <a:ea typeface="Consolas" pitchFamily="34" charset="-122"/>
                <a:cs typeface="Consolas" pitchFamily="34" charset="-120"/>
              </a:rPr>
              <a:t>StatusofReserve</a:t>
            </a:r>
            <a:endParaRPr lang="en-US" sz="800" dirty="0"/>
          </a:p>
        </p:txBody>
      </p:sp>
      <p:sp>
        <p:nvSpPr>
          <p:cNvPr id="1048644" name="Text 40"/>
          <p:cNvSpPr/>
          <p:nvPr/>
        </p:nvSpPr>
        <p:spPr>
          <a:xfrm>
            <a:off x="2514600" y="4206240"/>
            <a:ext cx="960120" cy="219456"/>
          </a:xfrm>
          <a:prstGeom prst="rect">
            <a:avLst/>
          </a:prstGeom>
          <a:noFill/>
        </p:spPr>
        <p:txBody>
          <a:bodyPr wrap="square" lIns="0" tIns="0" rIns="0" bIns="0" rtlCol="0" anchor="ctr"/>
          <a:lstStyle/>
          <a:p>
            <a:pPr marL="0" indent="0" algn="l">
              <a:buNone/>
            </a:pPr>
            <a:r>
              <a:rPr lang="en-US" sz="800" dirty="0">
                <a:solidFill>
                  <a:srgbClr val="0D1B2A"/>
                </a:solidFill>
              </a:rPr>
              <a:t>Categorica</a:t>
            </a:r>
            <a:endParaRPr lang="en-US" sz="800" dirty="0"/>
          </a:p>
        </p:txBody>
      </p:sp>
      <p:sp>
        <p:nvSpPr>
          <p:cNvPr id="1048645" name="Text 41"/>
          <p:cNvSpPr/>
          <p:nvPr/>
        </p:nvSpPr>
        <p:spPr>
          <a:xfrm>
            <a:off x="3520440" y="4206240"/>
            <a:ext cx="2011680" cy="219456"/>
          </a:xfrm>
          <a:prstGeom prst="rect">
            <a:avLst/>
          </a:prstGeom>
          <a:noFill/>
        </p:spPr>
        <p:txBody>
          <a:bodyPr wrap="square" lIns="0" tIns="0" rIns="0" bIns="0" rtlCol="0" anchor="ctr"/>
          <a:lstStyle/>
          <a:p>
            <a:pPr marL="0" indent="0" algn="l">
              <a:buNone/>
            </a:pPr>
            <a:r>
              <a:rPr lang="en-US" sz="800" dirty="0">
                <a:solidFill>
                  <a:srgbClr val="0D1B2A"/>
                </a:solidFill>
              </a:rPr>
              <a:t>Estado interno de la reserva</a:t>
            </a:r>
            <a:endParaRPr lang="en-US" sz="800" dirty="0"/>
          </a:p>
        </p:txBody>
      </p:sp>
      <p:sp>
        <p:nvSpPr>
          <p:cNvPr id="1048646" name="Shape 42"/>
          <p:cNvSpPr/>
          <p:nvPr/>
        </p:nvSpPr>
        <p:spPr>
          <a:xfrm>
            <a:off x="5806440" y="1508760"/>
            <a:ext cx="2880360" cy="3063240"/>
          </a:xfrm>
          <a:prstGeom prst="rect">
            <a:avLst/>
          </a:prstGeom>
          <a:solidFill>
            <a:srgbClr val="0D1B2A"/>
          </a:solidFill>
          <a:ln w="12700">
            <a:solidFill>
              <a:srgbClr val="0D1B2A"/>
            </a:solidFill>
            <a:prstDash val="solid"/>
          </a:ln>
          <a:effectLst>
            <a:outerShdw blurRad="101600" dist="38100" dir="8100000" algn="bl" rotWithShape="0">
              <a:srgbClr val="000000">
                <a:alpha val="10000"/>
              </a:srgbClr>
            </a:outerShdw>
          </a:effectLst>
        </p:spPr>
        <p:txBody>
          <a:bodyPr/>
          <a:lstStyle/>
          <a:p>
            <a:endParaRPr lang="es-CO"/>
          </a:p>
        </p:txBody>
      </p:sp>
      <p:sp>
        <p:nvSpPr>
          <p:cNvPr id="1048647" name="Text 43"/>
          <p:cNvSpPr/>
          <p:nvPr/>
        </p:nvSpPr>
        <p:spPr>
          <a:xfrm>
            <a:off x="5943600" y="1627632"/>
            <a:ext cx="2606040" cy="274320"/>
          </a:xfrm>
          <a:prstGeom prst="rect">
            <a:avLst/>
          </a:prstGeom>
          <a:noFill/>
        </p:spPr>
        <p:txBody>
          <a:bodyPr wrap="square" lIns="0" tIns="0" rIns="0" bIns="0" rtlCol="0" anchor="ctr"/>
          <a:lstStyle/>
          <a:p>
            <a:pPr marL="0" indent="0" algn="l">
              <a:buNone/>
            </a:pPr>
            <a:r>
              <a:rPr lang="en-US" sz="1000" b="1" dirty="0">
                <a:solidFill>
                  <a:srgbClr val="0EA5A0"/>
                </a:solidFill>
              </a:rPr>
              <a:t>Variable objetivo</a:t>
            </a:r>
            <a:endParaRPr lang="en-US" sz="1000" dirty="0"/>
          </a:p>
        </p:txBody>
      </p:sp>
      <p:sp>
        <p:nvSpPr>
          <p:cNvPr id="1048648" name="Text 44"/>
          <p:cNvSpPr/>
          <p:nvPr/>
        </p:nvSpPr>
        <p:spPr>
          <a:xfrm>
            <a:off x="5943600" y="1938528"/>
            <a:ext cx="2606040" cy="411480"/>
          </a:xfrm>
          <a:prstGeom prst="rect">
            <a:avLst/>
          </a:prstGeom>
          <a:noFill/>
        </p:spPr>
        <p:txBody>
          <a:bodyPr wrap="square" lIns="0" tIns="0" rIns="0" bIns="0" rtlCol="0" anchor="ctr"/>
          <a:lstStyle/>
          <a:p>
            <a:pPr marL="0" indent="0" algn="l">
              <a:buNone/>
            </a:pPr>
            <a:r>
              <a:rPr lang="en-US" sz="2200" b="1" dirty="0">
                <a:solidFill>
                  <a:srgbClr val="FFFFFF"/>
                </a:solidFill>
                <a:latin typeface="Consolas" pitchFamily="34" charset="0"/>
                <a:ea typeface="Consolas" pitchFamily="34" charset="-122"/>
                <a:cs typeface="Consolas" pitchFamily="34" charset="-120"/>
              </a:rPr>
              <a:t>Cancelled</a:t>
            </a:r>
            <a:endParaRPr lang="en-US" sz="2200" dirty="0"/>
          </a:p>
        </p:txBody>
      </p:sp>
      <p:sp>
        <p:nvSpPr>
          <p:cNvPr id="1048649" name="Shape 45"/>
          <p:cNvSpPr/>
          <p:nvPr/>
        </p:nvSpPr>
        <p:spPr>
          <a:xfrm>
            <a:off x="5943600" y="2395728"/>
            <a:ext cx="2606040" cy="18288"/>
          </a:xfrm>
          <a:prstGeom prst="rect">
            <a:avLst/>
          </a:prstGeom>
          <a:solidFill>
            <a:srgbClr val="1B2E45"/>
          </a:solidFill>
          <a:ln w="12700">
            <a:solidFill>
              <a:srgbClr val="1B2E45"/>
            </a:solidFill>
            <a:prstDash val="solid"/>
          </a:ln>
        </p:spPr>
        <p:txBody>
          <a:bodyPr/>
          <a:lstStyle/>
          <a:p>
            <a:endParaRPr lang="es-CO"/>
          </a:p>
        </p:txBody>
      </p:sp>
      <p:sp>
        <p:nvSpPr>
          <p:cNvPr id="1048650" name="Shape 46"/>
          <p:cNvSpPr/>
          <p:nvPr/>
        </p:nvSpPr>
        <p:spPr>
          <a:xfrm>
            <a:off x="5943600" y="2560320"/>
            <a:ext cx="384048" cy="384048"/>
          </a:xfrm>
          <a:prstGeom prst="ellipse">
            <a:avLst/>
          </a:prstGeom>
          <a:solidFill>
            <a:srgbClr val="0EA5A0"/>
          </a:solidFill>
          <a:ln w="6350">
            <a:solidFill>
              <a:srgbClr val="FFFFFF"/>
            </a:solidFill>
            <a:prstDash val="solid"/>
          </a:ln>
        </p:spPr>
        <p:txBody>
          <a:bodyPr/>
          <a:lstStyle/>
          <a:p>
            <a:endParaRPr lang="es-CO"/>
          </a:p>
        </p:txBody>
      </p:sp>
      <p:sp>
        <p:nvSpPr>
          <p:cNvPr id="1048651" name="Text 47"/>
          <p:cNvSpPr/>
          <p:nvPr/>
        </p:nvSpPr>
        <p:spPr>
          <a:xfrm>
            <a:off x="5943600" y="2578608"/>
            <a:ext cx="384048" cy="347472"/>
          </a:xfrm>
          <a:prstGeom prst="rect">
            <a:avLst/>
          </a:prstGeom>
          <a:noFill/>
        </p:spPr>
        <p:txBody>
          <a:bodyPr wrap="square" lIns="0" tIns="0" rIns="0" bIns="0" rtlCol="0" anchor="ctr"/>
          <a:lstStyle/>
          <a:p>
            <a:pPr marL="0" indent="0" algn="ctr">
              <a:buNone/>
            </a:pPr>
            <a:r>
              <a:rPr lang="en-US" sz="1300" b="1" dirty="0">
                <a:solidFill>
                  <a:srgbClr val="FFFFFF"/>
                </a:solidFill>
              </a:rPr>
              <a:t>0</a:t>
            </a:r>
            <a:endParaRPr lang="en-US" sz="1300" dirty="0"/>
          </a:p>
        </p:txBody>
      </p:sp>
      <p:sp>
        <p:nvSpPr>
          <p:cNvPr id="1048652" name="Text 48"/>
          <p:cNvSpPr/>
          <p:nvPr/>
        </p:nvSpPr>
        <p:spPr>
          <a:xfrm>
            <a:off x="6419088" y="2560320"/>
            <a:ext cx="2130552" cy="201168"/>
          </a:xfrm>
          <a:prstGeom prst="rect">
            <a:avLst/>
          </a:prstGeom>
          <a:noFill/>
        </p:spPr>
        <p:txBody>
          <a:bodyPr wrap="square" lIns="0" tIns="0" rIns="0" bIns="0" rtlCol="0" anchor="ctr"/>
          <a:lstStyle/>
          <a:p>
            <a:pPr marL="0" indent="0" algn="l">
              <a:buNone/>
            </a:pPr>
            <a:r>
              <a:rPr lang="en-US" sz="950" b="1" dirty="0">
                <a:solidFill>
                  <a:srgbClr val="FFFFFF"/>
                </a:solidFill>
              </a:rPr>
              <a:t>No cancelo</a:t>
            </a:r>
            <a:endParaRPr lang="en-US" sz="950" dirty="0"/>
          </a:p>
        </p:txBody>
      </p:sp>
      <p:sp>
        <p:nvSpPr>
          <p:cNvPr id="1048653" name="Text 49"/>
          <p:cNvSpPr/>
          <p:nvPr/>
        </p:nvSpPr>
        <p:spPr>
          <a:xfrm>
            <a:off x="6419088" y="2761488"/>
            <a:ext cx="2130552" cy="201168"/>
          </a:xfrm>
          <a:prstGeom prst="rect">
            <a:avLst/>
          </a:prstGeom>
          <a:noFill/>
        </p:spPr>
        <p:txBody>
          <a:bodyPr wrap="square" lIns="0" tIns="0" rIns="0" bIns="0" rtlCol="0" anchor="ctr"/>
          <a:lstStyle/>
          <a:p>
            <a:pPr marL="0" indent="0" algn="l">
              <a:buNone/>
            </a:pPr>
            <a:r>
              <a:rPr lang="en-US" sz="850" dirty="0">
                <a:solidFill>
                  <a:srgbClr val="8DA2B5"/>
                </a:solidFill>
              </a:rPr>
              <a:t>El pasajero se presento al viaje</a:t>
            </a:r>
            <a:endParaRPr lang="en-US" sz="850" dirty="0"/>
          </a:p>
        </p:txBody>
      </p:sp>
      <p:sp>
        <p:nvSpPr>
          <p:cNvPr id="1048654" name="Shape 50"/>
          <p:cNvSpPr/>
          <p:nvPr/>
        </p:nvSpPr>
        <p:spPr>
          <a:xfrm>
            <a:off x="5943600" y="3429000"/>
            <a:ext cx="384048" cy="384048"/>
          </a:xfrm>
          <a:prstGeom prst="ellipse">
            <a:avLst/>
          </a:prstGeom>
          <a:solidFill>
            <a:srgbClr val="E05C4A"/>
          </a:solidFill>
          <a:ln w="6350">
            <a:solidFill>
              <a:srgbClr val="FFFFFF"/>
            </a:solidFill>
            <a:prstDash val="solid"/>
          </a:ln>
        </p:spPr>
        <p:txBody>
          <a:bodyPr/>
          <a:lstStyle/>
          <a:p>
            <a:endParaRPr lang="es-CO"/>
          </a:p>
        </p:txBody>
      </p:sp>
      <p:sp>
        <p:nvSpPr>
          <p:cNvPr id="1048655" name="Text 51"/>
          <p:cNvSpPr/>
          <p:nvPr/>
        </p:nvSpPr>
        <p:spPr>
          <a:xfrm>
            <a:off x="5943600" y="3447288"/>
            <a:ext cx="384048" cy="347472"/>
          </a:xfrm>
          <a:prstGeom prst="rect">
            <a:avLst/>
          </a:prstGeom>
          <a:noFill/>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1048656" name="Text 52"/>
          <p:cNvSpPr/>
          <p:nvPr/>
        </p:nvSpPr>
        <p:spPr>
          <a:xfrm>
            <a:off x="6419088" y="3429000"/>
            <a:ext cx="2130552" cy="201168"/>
          </a:xfrm>
          <a:prstGeom prst="rect">
            <a:avLst/>
          </a:prstGeom>
          <a:noFill/>
        </p:spPr>
        <p:txBody>
          <a:bodyPr wrap="square" lIns="0" tIns="0" rIns="0" bIns="0" rtlCol="0" anchor="ctr"/>
          <a:lstStyle/>
          <a:p>
            <a:pPr marL="0" indent="0" algn="l">
              <a:buNone/>
            </a:pPr>
            <a:r>
              <a:rPr lang="en-US" sz="950" b="1" dirty="0">
                <a:solidFill>
                  <a:srgbClr val="FFFFFF"/>
                </a:solidFill>
              </a:rPr>
              <a:t>Si cancelo</a:t>
            </a:r>
            <a:endParaRPr lang="en-US" sz="950" dirty="0"/>
          </a:p>
        </p:txBody>
      </p:sp>
      <p:sp>
        <p:nvSpPr>
          <p:cNvPr id="1048657" name="Text 53"/>
          <p:cNvSpPr/>
          <p:nvPr/>
        </p:nvSpPr>
        <p:spPr>
          <a:xfrm>
            <a:off x="6419088" y="3630168"/>
            <a:ext cx="2130552" cy="201168"/>
          </a:xfrm>
          <a:prstGeom prst="rect">
            <a:avLst/>
          </a:prstGeom>
          <a:noFill/>
        </p:spPr>
        <p:txBody>
          <a:bodyPr wrap="square" lIns="0" tIns="0" rIns="0" bIns="0" rtlCol="0" anchor="ctr"/>
          <a:lstStyle/>
          <a:p>
            <a:pPr marL="0" indent="0" algn="l">
              <a:buNone/>
            </a:pPr>
            <a:r>
              <a:rPr lang="en-US" sz="850" dirty="0">
                <a:solidFill>
                  <a:srgbClr val="8DA2B5"/>
                </a:solidFill>
              </a:rPr>
              <a:t>El pasajero cancelo la reserva</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B"/>
        </a:solidFill>
        <a:effectLst/>
      </p:bgPr>
    </p:bg>
    <p:spTree>
      <p:nvGrpSpPr>
        <p:cNvPr id="1" name=""/>
        <p:cNvGrpSpPr/>
        <p:nvPr/>
      </p:nvGrpSpPr>
      <p:grpSpPr>
        <a:xfrm>
          <a:off x="0" y="0"/>
          <a:ext cx="0" cy="0"/>
          <a:chOff x="0" y="0"/>
          <a:chExt cx="0" cy="0"/>
        </a:xfrm>
      </p:grpSpPr>
      <p:sp>
        <p:nvSpPr>
          <p:cNvPr id="1048672" name="Text 0"/>
          <p:cNvSpPr/>
          <p:nvPr/>
        </p:nvSpPr>
        <p:spPr>
          <a:xfrm>
            <a:off x="8595360" y="182880"/>
            <a:ext cx="457200" cy="274320"/>
          </a:xfrm>
          <a:prstGeom prst="rect">
            <a:avLst/>
          </a:prstGeom>
          <a:noFill/>
        </p:spPr>
        <p:txBody>
          <a:bodyPr wrap="square" lIns="0" tIns="0" rIns="0" bIns="0" rtlCol="0" anchor="ctr"/>
          <a:lstStyle/>
          <a:p>
            <a:pPr marL="0" indent="0" algn="r">
              <a:buNone/>
            </a:pPr>
            <a:r>
              <a:rPr lang="en-US" sz="900" dirty="0">
                <a:solidFill>
                  <a:srgbClr val="8DA2B5"/>
                </a:solidFill>
              </a:rPr>
              <a:t>04</a:t>
            </a:r>
            <a:endParaRPr lang="en-US" sz="900" dirty="0"/>
          </a:p>
        </p:txBody>
      </p:sp>
      <p:sp>
        <p:nvSpPr>
          <p:cNvPr id="1048673" name="Text 1"/>
          <p:cNvSpPr/>
          <p:nvPr/>
        </p:nvSpPr>
        <p:spPr>
          <a:xfrm>
            <a:off x="457200" y="228600"/>
            <a:ext cx="8229600" cy="502920"/>
          </a:xfrm>
          <a:prstGeom prst="rect">
            <a:avLst/>
          </a:prstGeom>
          <a:noFill/>
        </p:spPr>
        <p:txBody>
          <a:bodyPr wrap="square" lIns="0" tIns="0" rIns="0" bIns="0" rtlCol="0" anchor="ctr"/>
          <a:lstStyle/>
          <a:p>
            <a:pPr marL="0" indent="0" algn="l">
              <a:buNone/>
            </a:pPr>
            <a:r>
              <a:rPr lang="en-US" sz="2600" b="1" dirty="0">
                <a:solidFill>
                  <a:srgbClr val="0D1B2A"/>
                </a:solidFill>
              </a:rPr>
              <a:t>Analisis visual de los datos</a:t>
            </a:r>
            <a:endParaRPr lang="en-US" sz="2600" dirty="0"/>
          </a:p>
        </p:txBody>
      </p:sp>
      <p:sp>
        <p:nvSpPr>
          <p:cNvPr id="1048674" name="Shape 2"/>
          <p:cNvSpPr/>
          <p:nvPr/>
        </p:nvSpPr>
        <p:spPr>
          <a:xfrm>
            <a:off x="457200" y="749808"/>
            <a:ext cx="1280160" cy="45720"/>
          </a:xfrm>
          <a:prstGeom prst="rect">
            <a:avLst/>
          </a:prstGeom>
          <a:solidFill>
            <a:srgbClr val="0EA5A0"/>
          </a:solidFill>
          <a:ln w="12700">
            <a:solidFill>
              <a:srgbClr val="0EA5A0"/>
            </a:solidFill>
            <a:prstDash val="solid"/>
          </a:ln>
        </p:spPr>
        <p:txBody>
          <a:bodyPr/>
          <a:lstStyle/>
          <a:p>
            <a:endParaRPr lang="es-CO"/>
          </a:p>
        </p:txBody>
      </p:sp>
      <p:sp>
        <p:nvSpPr>
          <p:cNvPr id="1048675" name="Shape 3"/>
          <p:cNvSpPr/>
          <p:nvPr/>
        </p:nvSpPr>
        <p:spPr>
          <a:xfrm>
            <a:off x="457200" y="960120"/>
            <a:ext cx="4023360" cy="2560320"/>
          </a:xfrm>
          <a:prstGeom prst="rect">
            <a:avLst/>
          </a:prstGeom>
          <a:solidFill>
            <a:srgbClr val="FFFFFF"/>
          </a:solidFill>
          <a:ln w="6350">
            <a:solidFill>
              <a:srgbClr val="D0DDE8"/>
            </a:solidFill>
            <a:prstDash val="solid"/>
          </a:ln>
          <a:effectLst>
            <a:outerShdw blurRad="101600" dist="38100" dir="8100000" algn="bl" rotWithShape="0">
              <a:srgbClr val="000000">
                <a:alpha val="10000"/>
              </a:srgbClr>
            </a:outerShdw>
          </a:effectLst>
        </p:spPr>
        <p:txBody>
          <a:bodyPr/>
          <a:lstStyle/>
          <a:p>
            <a:endParaRPr lang="es-CO"/>
          </a:p>
        </p:txBody>
      </p:sp>
      <p:sp>
        <p:nvSpPr>
          <p:cNvPr id="1048676" name="Shape 4"/>
          <p:cNvSpPr/>
          <p:nvPr/>
        </p:nvSpPr>
        <p:spPr>
          <a:xfrm>
            <a:off x="457200" y="960120"/>
            <a:ext cx="4023360" cy="54864"/>
          </a:xfrm>
          <a:prstGeom prst="rect">
            <a:avLst/>
          </a:prstGeom>
          <a:solidFill>
            <a:srgbClr val="0EA5A0"/>
          </a:solidFill>
          <a:ln w="12700">
            <a:solidFill>
              <a:srgbClr val="0EA5A0"/>
            </a:solidFill>
            <a:prstDash val="solid"/>
          </a:ln>
        </p:spPr>
        <p:txBody>
          <a:bodyPr/>
          <a:lstStyle/>
          <a:p>
            <a:endParaRPr lang="es-CO"/>
          </a:p>
        </p:txBody>
      </p:sp>
      <p:sp>
        <p:nvSpPr>
          <p:cNvPr id="1048677" name="Text 5"/>
          <p:cNvSpPr/>
          <p:nvPr/>
        </p:nvSpPr>
        <p:spPr>
          <a:xfrm>
            <a:off x="594360" y="1033272"/>
            <a:ext cx="3749040" cy="274320"/>
          </a:xfrm>
          <a:prstGeom prst="rect">
            <a:avLst/>
          </a:prstGeom>
          <a:noFill/>
        </p:spPr>
        <p:txBody>
          <a:bodyPr wrap="square" lIns="0" tIns="0" rIns="0" bIns="0" rtlCol="0" anchor="ctr"/>
          <a:lstStyle/>
          <a:p>
            <a:pPr marL="0" indent="0" algn="l">
              <a:buNone/>
            </a:pPr>
            <a:r>
              <a:rPr lang="en-US" sz="900" b="1" dirty="0">
                <a:solidFill>
                  <a:srgbClr val="0D1B2A"/>
                </a:solidFill>
              </a:rPr>
              <a:t>Grafica 1 — Distribucion de anticipacion de compra</a:t>
            </a:r>
            <a:endParaRPr lang="en-US" sz="900" dirty="0"/>
          </a:p>
        </p:txBody>
      </p:sp>
      <p:sp>
        <p:nvSpPr>
          <p:cNvPr id="1048680" name="Shape 8"/>
          <p:cNvSpPr/>
          <p:nvPr/>
        </p:nvSpPr>
        <p:spPr>
          <a:xfrm>
            <a:off x="4663440" y="960120"/>
            <a:ext cx="4023360" cy="2560320"/>
          </a:xfrm>
          <a:prstGeom prst="rect">
            <a:avLst/>
          </a:prstGeom>
          <a:solidFill>
            <a:srgbClr val="FFFFFF"/>
          </a:solidFill>
          <a:ln w="6350">
            <a:solidFill>
              <a:srgbClr val="D0DDE8"/>
            </a:solidFill>
            <a:prstDash val="solid"/>
          </a:ln>
          <a:effectLst>
            <a:outerShdw blurRad="101600" dist="38100" dir="8100000" algn="bl" rotWithShape="0">
              <a:srgbClr val="000000">
                <a:alpha val="10000"/>
              </a:srgbClr>
            </a:outerShdw>
          </a:effectLst>
        </p:spPr>
        <p:txBody>
          <a:bodyPr/>
          <a:lstStyle/>
          <a:p>
            <a:endParaRPr lang="es-CO"/>
          </a:p>
        </p:txBody>
      </p:sp>
      <p:sp>
        <p:nvSpPr>
          <p:cNvPr id="1048681" name="Shape 9"/>
          <p:cNvSpPr/>
          <p:nvPr/>
        </p:nvSpPr>
        <p:spPr>
          <a:xfrm>
            <a:off x="4663440" y="960120"/>
            <a:ext cx="4023360" cy="54864"/>
          </a:xfrm>
          <a:prstGeom prst="rect">
            <a:avLst/>
          </a:prstGeom>
          <a:solidFill>
            <a:srgbClr val="0EA5A0"/>
          </a:solidFill>
          <a:ln w="12700">
            <a:solidFill>
              <a:srgbClr val="0EA5A0"/>
            </a:solidFill>
            <a:prstDash val="solid"/>
          </a:ln>
        </p:spPr>
        <p:txBody>
          <a:bodyPr/>
          <a:lstStyle/>
          <a:p>
            <a:endParaRPr lang="es-CO"/>
          </a:p>
        </p:txBody>
      </p:sp>
      <p:sp>
        <p:nvSpPr>
          <p:cNvPr id="1048682" name="Text 10"/>
          <p:cNvSpPr/>
          <p:nvPr/>
        </p:nvSpPr>
        <p:spPr>
          <a:xfrm>
            <a:off x="4800600" y="1033272"/>
            <a:ext cx="3749040" cy="274320"/>
          </a:xfrm>
          <a:prstGeom prst="rect">
            <a:avLst/>
          </a:prstGeom>
          <a:noFill/>
        </p:spPr>
        <p:txBody>
          <a:bodyPr wrap="square" lIns="0" tIns="0" rIns="0" bIns="0" rtlCol="0" anchor="ctr"/>
          <a:lstStyle/>
          <a:p>
            <a:pPr marL="0" indent="0" algn="l">
              <a:buNone/>
            </a:pPr>
            <a:r>
              <a:rPr lang="en-US" sz="900" b="1" dirty="0">
                <a:solidFill>
                  <a:srgbClr val="0D1B2A"/>
                </a:solidFill>
              </a:rPr>
              <a:t>Grafica 2 — Tasa de cancelacion por medio de transporte</a:t>
            </a:r>
            <a:endParaRPr lang="en-US" sz="900" dirty="0"/>
          </a:p>
        </p:txBody>
      </p:sp>
      <p:sp>
        <p:nvSpPr>
          <p:cNvPr id="1048685" name="Shape 13"/>
          <p:cNvSpPr/>
          <p:nvPr/>
        </p:nvSpPr>
        <p:spPr>
          <a:xfrm>
            <a:off x="457200" y="3703319"/>
            <a:ext cx="4023360" cy="1116875"/>
          </a:xfrm>
          <a:prstGeom prst="rect">
            <a:avLst/>
          </a:prstGeom>
          <a:solidFill>
            <a:srgbClr val="0D1B2A"/>
          </a:solidFill>
          <a:ln w="12700">
            <a:solidFill>
              <a:srgbClr val="0D1B2A"/>
            </a:solidFill>
            <a:prstDash val="solid"/>
          </a:ln>
        </p:spPr>
        <p:txBody>
          <a:bodyPr/>
          <a:lstStyle/>
          <a:p>
            <a:endParaRPr lang="es-CO"/>
          </a:p>
        </p:txBody>
      </p:sp>
      <p:sp>
        <p:nvSpPr>
          <p:cNvPr id="1048686" name="Shape 14"/>
          <p:cNvSpPr/>
          <p:nvPr/>
        </p:nvSpPr>
        <p:spPr>
          <a:xfrm>
            <a:off x="457200" y="3703320"/>
            <a:ext cx="45719" cy="1116874"/>
          </a:xfrm>
          <a:prstGeom prst="rect">
            <a:avLst/>
          </a:prstGeom>
          <a:solidFill>
            <a:srgbClr val="0EA5A0"/>
          </a:solidFill>
          <a:ln w="12700">
            <a:solidFill>
              <a:srgbClr val="0EA5A0"/>
            </a:solidFill>
            <a:prstDash val="solid"/>
          </a:ln>
        </p:spPr>
        <p:txBody>
          <a:bodyPr/>
          <a:lstStyle/>
          <a:p>
            <a:endParaRPr lang="es-CO"/>
          </a:p>
        </p:txBody>
      </p:sp>
      <p:sp>
        <p:nvSpPr>
          <p:cNvPr id="1048687" name="Text 15"/>
          <p:cNvSpPr/>
          <p:nvPr/>
        </p:nvSpPr>
        <p:spPr>
          <a:xfrm>
            <a:off x="621792" y="3749040"/>
            <a:ext cx="3749040" cy="228600"/>
          </a:xfrm>
          <a:prstGeom prst="rect">
            <a:avLst/>
          </a:prstGeom>
          <a:noFill/>
        </p:spPr>
        <p:txBody>
          <a:bodyPr wrap="square" lIns="0" tIns="0" rIns="0" bIns="0" rtlCol="0" anchor="ctr"/>
          <a:lstStyle/>
          <a:p>
            <a:pPr marL="0" indent="0" algn="l">
              <a:buNone/>
            </a:pPr>
            <a:r>
              <a:rPr lang="en-US" sz="850" b="1" dirty="0">
                <a:solidFill>
                  <a:srgbClr val="14C7C1"/>
                </a:solidFill>
              </a:rPr>
              <a:t>Que muestra la Grafica 1</a:t>
            </a:r>
            <a:endParaRPr lang="en-US" sz="850" dirty="0"/>
          </a:p>
        </p:txBody>
      </p:sp>
      <p:sp>
        <p:nvSpPr>
          <p:cNvPr id="1048688" name="Text 16"/>
          <p:cNvSpPr/>
          <p:nvPr/>
        </p:nvSpPr>
        <p:spPr>
          <a:xfrm>
            <a:off x="621792" y="3974951"/>
            <a:ext cx="3749040" cy="685800"/>
          </a:xfrm>
          <a:prstGeom prst="rect">
            <a:avLst/>
          </a:prstGeom>
          <a:noFill/>
        </p:spPr>
        <p:txBody>
          <a:bodyPr wrap="square" lIns="0" tIns="0" rIns="0" bIns="0" rtlCol="0" anchor="ctr"/>
          <a:lstStyle/>
          <a:p>
            <a:r>
              <a:rPr lang="es-ES" sz="800" dirty="0">
                <a:solidFill>
                  <a:schemeClr val="bg1"/>
                </a:solidFill>
              </a:rPr>
              <a:t>Se observa que los pasajeros que cancelaron tienden a concentrarse en reservas con pocos días de anticipación, pero también aparecen cancelaciones en reservas hechas con mucha anticipación, lo que sugiere que quien reserva demasiado lejos del viaje de todas manera tiene menor probabilidad de cancelar que uno reciente. Los pasajeros que si se presentaron muestran una distribución mas uniforme. Esta variable será relevante para el modelo, aunque no es la única determinante.</a:t>
            </a:r>
          </a:p>
        </p:txBody>
      </p:sp>
      <p:sp>
        <p:nvSpPr>
          <p:cNvPr id="1048689" name="Shape 17"/>
          <p:cNvSpPr/>
          <p:nvPr/>
        </p:nvSpPr>
        <p:spPr>
          <a:xfrm>
            <a:off x="4663439" y="3703320"/>
            <a:ext cx="4101737" cy="1116874"/>
          </a:xfrm>
          <a:prstGeom prst="rect">
            <a:avLst/>
          </a:prstGeom>
          <a:solidFill>
            <a:srgbClr val="0D1B2A"/>
          </a:solidFill>
          <a:ln w="12700">
            <a:solidFill>
              <a:srgbClr val="0D1B2A"/>
            </a:solidFill>
            <a:prstDash val="solid"/>
          </a:ln>
        </p:spPr>
        <p:txBody>
          <a:bodyPr/>
          <a:lstStyle/>
          <a:p>
            <a:endParaRPr lang="es-CO"/>
          </a:p>
        </p:txBody>
      </p:sp>
      <p:sp>
        <p:nvSpPr>
          <p:cNvPr id="1048690" name="Shape 18"/>
          <p:cNvSpPr/>
          <p:nvPr/>
        </p:nvSpPr>
        <p:spPr>
          <a:xfrm>
            <a:off x="4663440" y="3703320"/>
            <a:ext cx="64008" cy="1116874"/>
          </a:xfrm>
          <a:prstGeom prst="rect">
            <a:avLst/>
          </a:prstGeom>
          <a:solidFill>
            <a:srgbClr val="0EA5A0"/>
          </a:solidFill>
          <a:ln w="12700">
            <a:solidFill>
              <a:srgbClr val="0EA5A0"/>
            </a:solidFill>
            <a:prstDash val="solid"/>
          </a:ln>
        </p:spPr>
        <p:txBody>
          <a:bodyPr/>
          <a:lstStyle/>
          <a:p>
            <a:endParaRPr lang="es-CO"/>
          </a:p>
        </p:txBody>
      </p:sp>
      <p:sp>
        <p:nvSpPr>
          <p:cNvPr id="1048691" name="Text 19"/>
          <p:cNvSpPr/>
          <p:nvPr/>
        </p:nvSpPr>
        <p:spPr>
          <a:xfrm>
            <a:off x="4828032" y="3749040"/>
            <a:ext cx="3749040" cy="228600"/>
          </a:xfrm>
          <a:prstGeom prst="rect">
            <a:avLst/>
          </a:prstGeom>
          <a:noFill/>
        </p:spPr>
        <p:txBody>
          <a:bodyPr wrap="square" lIns="0" tIns="0" rIns="0" bIns="0" rtlCol="0" anchor="ctr"/>
          <a:lstStyle/>
          <a:p>
            <a:pPr marL="0" indent="0" algn="l">
              <a:buNone/>
            </a:pPr>
            <a:r>
              <a:rPr lang="en-US" sz="850" b="1" dirty="0">
                <a:solidFill>
                  <a:srgbClr val="14C7C1"/>
                </a:solidFill>
              </a:rPr>
              <a:t>Que muestra la Grafica 2</a:t>
            </a:r>
            <a:endParaRPr lang="en-US" sz="850" dirty="0"/>
          </a:p>
        </p:txBody>
      </p:sp>
      <p:sp>
        <p:nvSpPr>
          <p:cNvPr id="1048692" name="Text 20"/>
          <p:cNvSpPr/>
          <p:nvPr/>
        </p:nvSpPr>
        <p:spPr>
          <a:xfrm>
            <a:off x="4828032" y="3941064"/>
            <a:ext cx="3749040" cy="685800"/>
          </a:xfrm>
          <a:prstGeom prst="rect">
            <a:avLst/>
          </a:prstGeom>
          <a:noFill/>
        </p:spPr>
        <p:txBody>
          <a:bodyPr wrap="square" lIns="0" tIns="0" rIns="0" bIns="0" rtlCol="0" anchor="ctr"/>
          <a:lstStyle/>
          <a:p>
            <a:r>
              <a:rPr lang="es-ES" sz="800" dirty="0">
                <a:solidFill>
                  <a:schemeClr val="bg1"/>
                </a:solidFill>
              </a:rPr>
              <a:t>Existe una diferencia clara en la tasa de cancelación según el medio de transporte. Esto indica que el tipo de vehículo tiene un peso significativo en la decisión de cancelar: los vuelos internacionales tienden a tener menor cancelación posiblemente porque el costo es mas alto y el compromiso del viajero es mayor. Los tiquetes de tren, al ser posiblemente mas flexibles y fáciles de conseguir, presentan tasas de cancelación mas altas. Esta variable aportara información útil al modelo.</a:t>
            </a:r>
          </a:p>
        </p:txBody>
      </p:sp>
      <p:pic>
        <p:nvPicPr>
          <p:cNvPr id="3" name="Imagen 2">
            <a:extLst>
              <a:ext uri="{FF2B5EF4-FFF2-40B4-BE49-F238E27FC236}">
                <a16:creationId xmlns:a16="http://schemas.microsoft.com/office/drawing/2014/main" id="{AF07BA1B-D40A-AE07-AB17-3AC7CD8D13C9}"/>
              </a:ext>
            </a:extLst>
          </p:cNvPr>
          <p:cNvPicPr>
            <a:picLocks noChangeAspect="1"/>
          </p:cNvPicPr>
          <p:nvPr/>
        </p:nvPicPr>
        <p:blipFill>
          <a:blip r:embed="rId3"/>
          <a:stretch>
            <a:fillRect/>
          </a:stretch>
        </p:blipFill>
        <p:spPr>
          <a:xfrm>
            <a:off x="521208" y="1486027"/>
            <a:ext cx="3913631" cy="1932045"/>
          </a:xfrm>
          <a:prstGeom prst="rect">
            <a:avLst/>
          </a:prstGeom>
        </p:spPr>
      </p:pic>
      <p:pic>
        <p:nvPicPr>
          <p:cNvPr id="5" name="Imagen 4">
            <a:extLst>
              <a:ext uri="{FF2B5EF4-FFF2-40B4-BE49-F238E27FC236}">
                <a16:creationId xmlns:a16="http://schemas.microsoft.com/office/drawing/2014/main" id="{323C1270-D6D6-9610-42D7-4A555EB8C701}"/>
              </a:ext>
            </a:extLst>
          </p:cNvPr>
          <p:cNvPicPr>
            <a:picLocks noChangeAspect="1"/>
          </p:cNvPicPr>
          <p:nvPr/>
        </p:nvPicPr>
        <p:blipFill>
          <a:blip r:embed="rId4"/>
          <a:stretch>
            <a:fillRect/>
          </a:stretch>
        </p:blipFill>
        <p:spPr>
          <a:xfrm>
            <a:off x="4972077" y="1402965"/>
            <a:ext cx="3577563" cy="202210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B"/>
        </a:solidFill>
        <a:effectLst/>
      </p:bgPr>
    </p:bg>
    <p:spTree>
      <p:nvGrpSpPr>
        <p:cNvPr id="1" name=""/>
        <p:cNvGrpSpPr/>
        <p:nvPr/>
      </p:nvGrpSpPr>
      <p:grpSpPr>
        <a:xfrm>
          <a:off x="0" y="0"/>
          <a:ext cx="0" cy="0"/>
          <a:chOff x="0" y="0"/>
          <a:chExt cx="0" cy="0"/>
        </a:xfrm>
      </p:grpSpPr>
      <p:sp>
        <p:nvSpPr>
          <p:cNvPr id="1048696" name="Text 0"/>
          <p:cNvSpPr/>
          <p:nvPr/>
        </p:nvSpPr>
        <p:spPr>
          <a:xfrm>
            <a:off x="8595360" y="182880"/>
            <a:ext cx="457200" cy="274320"/>
          </a:xfrm>
          <a:prstGeom prst="rect">
            <a:avLst/>
          </a:prstGeom>
          <a:noFill/>
        </p:spPr>
        <p:txBody>
          <a:bodyPr wrap="square" lIns="0" tIns="0" rIns="0" bIns="0" rtlCol="0" anchor="ctr"/>
          <a:lstStyle/>
          <a:p>
            <a:pPr marL="0" indent="0" algn="r">
              <a:buNone/>
            </a:pPr>
            <a:r>
              <a:rPr lang="en-US" sz="900" dirty="0">
                <a:solidFill>
                  <a:srgbClr val="8DA2B5"/>
                </a:solidFill>
              </a:rPr>
              <a:t>05</a:t>
            </a:r>
            <a:endParaRPr lang="en-US" sz="900" dirty="0"/>
          </a:p>
        </p:txBody>
      </p:sp>
      <p:sp>
        <p:nvSpPr>
          <p:cNvPr id="1048697" name="Text 1"/>
          <p:cNvSpPr/>
          <p:nvPr/>
        </p:nvSpPr>
        <p:spPr>
          <a:xfrm>
            <a:off x="457200" y="228600"/>
            <a:ext cx="8229600" cy="502920"/>
          </a:xfrm>
          <a:prstGeom prst="rect">
            <a:avLst/>
          </a:prstGeom>
          <a:noFill/>
        </p:spPr>
        <p:txBody>
          <a:bodyPr wrap="square" lIns="0" tIns="0" rIns="0" bIns="0" rtlCol="0" anchor="ctr"/>
          <a:lstStyle/>
          <a:p>
            <a:pPr marL="0" indent="0" algn="l">
              <a:buNone/>
            </a:pPr>
            <a:r>
              <a:rPr lang="en-US" sz="2600" b="1" dirty="0">
                <a:solidFill>
                  <a:srgbClr val="0D1B2A"/>
                </a:solidFill>
              </a:rPr>
              <a:t>Resultados del modelo</a:t>
            </a:r>
            <a:endParaRPr lang="en-US" sz="2600" dirty="0"/>
          </a:p>
        </p:txBody>
      </p:sp>
      <p:sp>
        <p:nvSpPr>
          <p:cNvPr id="1048698" name="Shape 2"/>
          <p:cNvSpPr/>
          <p:nvPr/>
        </p:nvSpPr>
        <p:spPr>
          <a:xfrm>
            <a:off x="457200" y="749808"/>
            <a:ext cx="1097280" cy="45720"/>
          </a:xfrm>
          <a:prstGeom prst="rect">
            <a:avLst/>
          </a:prstGeom>
          <a:solidFill>
            <a:srgbClr val="0EA5A0"/>
          </a:solidFill>
          <a:ln w="12700">
            <a:solidFill>
              <a:srgbClr val="0EA5A0"/>
            </a:solidFill>
            <a:prstDash val="solid"/>
          </a:ln>
        </p:spPr>
        <p:txBody>
          <a:bodyPr/>
          <a:lstStyle/>
          <a:p>
            <a:endParaRPr lang="es-CO"/>
          </a:p>
        </p:txBody>
      </p:sp>
      <p:sp>
        <p:nvSpPr>
          <p:cNvPr id="1048699" name="Shape 3"/>
          <p:cNvSpPr/>
          <p:nvPr/>
        </p:nvSpPr>
        <p:spPr>
          <a:xfrm>
            <a:off x="457200" y="914400"/>
            <a:ext cx="2651760" cy="1143000"/>
          </a:xfrm>
          <a:prstGeom prst="rect">
            <a:avLst/>
          </a:prstGeom>
          <a:solidFill>
            <a:srgbClr val="0D1B2A"/>
          </a:solidFill>
          <a:ln w="12700">
            <a:solidFill>
              <a:srgbClr val="0D1B2A"/>
            </a:solidFill>
            <a:prstDash val="solid"/>
          </a:ln>
          <a:effectLst>
            <a:outerShdw blurRad="101600" dist="38100" dir="8100000" algn="bl" rotWithShape="0">
              <a:srgbClr val="000000">
                <a:alpha val="10000"/>
              </a:srgbClr>
            </a:outerShdw>
          </a:effectLst>
        </p:spPr>
        <p:txBody>
          <a:bodyPr/>
          <a:lstStyle/>
          <a:p>
            <a:endParaRPr lang="es-CO"/>
          </a:p>
        </p:txBody>
      </p:sp>
      <p:sp>
        <p:nvSpPr>
          <p:cNvPr id="1048700" name="Text 4"/>
          <p:cNvSpPr/>
          <p:nvPr/>
        </p:nvSpPr>
        <p:spPr>
          <a:xfrm>
            <a:off x="594360" y="987552"/>
            <a:ext cx="2377440" cy="228600"/>
          </a:xfrm>
          <a:prstGeom prst="rect">
            <a:avLst/>
          </a:prstGeom>
          <a:noFill/>
        </p:spPr>
        <p:txBody>
          <a:bodyPr wrap="square" lIns="0" tIns="0" rIns="0" bIns="0" rtlCol="0" anchor="ctr"/>
          <a:lstStyle/>
          <a:p>
            <a:pPr marL="0" indent="0" algn="l">
              <a:buNone/>
            </a:pPr>
            <a:r>
              <a:rPr lang="en-US" sz="850" b="1" kern="0" spc="200" dirty="0">
                <a:solidFill>
                  <a:srgbClr val="0EA5A0"/>
                </a:solidFill>
              </a:rPr>
              <a:t>Accuracy</a:t>
            </a:r>
            <a:endParaRPr lang="en-US" sz="850" dirty="0"/>
          </a:p>
        </p:txBody>
      </p:sp>
      <p:sp>
        <p:nvSpPr>
          <p:cNvPr id="1048701" name="Text 5"/>
          <p:cNvSpPr/>
          <p:nvPr/>
        </p:nvSpPr>
        <p:spPr>
          <a:xfrm>
            <a:off x="548640" y="1207008"/>
            <a:ext cx="2468880" cy="457200"/>
          </a:xfrm>
          <a:prstGeom prst="rect">
            <a:avLst/>
          </a:prstGeom>
          <a:noFill/>
        </p:spPr>
        <p:txBody>
          <a:bodyPr wrap="square" lIns="0" tIns="0" rIns="0" bIns="0" rtlCol="0" anchor="ctr"/>
          <a:lstStyle/>
          <a:p>
            <a:pPr marL="0" indent="0" algn="ctr">
              <a:buNone/>
            </a:pPr>
            <a:r>
              <a:rPr lang="en-US" sz="2400" b="1" dirty="0">
                <a:solidFill>
                  <a:srgbClr val="FFFFFF"/>
                </a:solidFill>
              </a:rPr>
              <a:t>[ 98,3% ]</a:t>
            </a:r>
            <a:endParaRPr lang="en-US" sz="2400" dirty="0"/>
          </a:p>
        </p:txBody>
      </p:sp>
      <p:sp>
        <p:nvSpPr>
          <p:cNvPr id="1048702" name="Text 6"/>
          <p:cNvSpPr/>
          <p:nvPr/>
        </p:nvSpPr>
        <p:spPr>
          <a:xfrm>
            <a:off x="548640" y="1691640"/>
            <a:ext cx="2468880" cy="228600"/>
          </a:xfrm>
          <a:prstGeom prst="rect">
            <a:avLst/>
          </a:prstGeom>
          <a:noFill/>
        </p:spPr>
        <p:txBody>
          <a:bodyPr wrap="square" lIns="0" tIns="0" rIns="0" bIns="0" rtlCol="0" anchor="ctr"/>
          <a:lstStyle/>
          <a:p>
            <a:pPr marL="0" indent="0" algn="ctr">
              <a:buNone/>
            </a:pPr>
            <a:r>
              <a:rPr lang="en-US" sz="800" dirty="0">
                <a:solidFill>
                  <a:srgbClr val="8DA2B5"/>
                </a:solidFill>
              </a:rPr>
              <a:t>Precision global del modelo</a:t>
            </a:r>
            <a:endParaRPr lang="en-US" sz="800" dirty="0"/>
          </a:p>
        </p:txBody>
      </p:sp>
      <p:sp>
        <p:nvSpPr>
          <p:cNvPr id="1048703" name="Shape 7"/>
          <p:cNvSpPr/>
          <p:nvPr/>
        </p:nvSpPr>
        <p:spPr>
          <a:xfrm>
            <a:off x="3291840" y="914400"/>
            <a:ext cx="2651760" cy="1143000"/>
          </a:xfrm>
          <a:prstGeom prst="rect">
            <a:avLst/>
          </a:prstGeom>
          <a:solidFill>
            <a:srgbClr val="0D1B2A"/>
          </a:solidFill>
          <a:ln w="12700">
            <a:solidFill>
              <a:srgbClr val="0D1B2A"/>
            </a:solidFill>
            <a:prstDash val="solid"/>
          </a:ln>
          <a:effectLst>
            <a:outerShdw blurRad="101600" dist="38100" dir="8100000" algn="bl" rotWithShape="0">
              <a:srgbClr val="000000">
                <a:alpha val="10000"/>
              </a:srgbClr>
            </a:outerShdw>
          </a:effectLst>
        </p:spPr>
        <p:txBody>
          <a:bodyPr/>
          <a:lstStyle/>
          <a:p>
            <a:endParaRPr lang="es-CO"/>
          </a:p>
        </p:txBody>
      </p:sp>
      <p:sp>
        <p:nvSpPr>
          <p:cNvPr id="1048704" name="Text 8"/>
          <p:cNvSpPr/>
          <p:nvPr/>
        </p:nvSpPr>
        <p:spPr>
          <a:xfrm>
            <a:off x="3429000" y="987552"/>
            <a:ext cx="2377440" cy="228600"/>
          </a:xfrm>
          <a:prstGeom prst="rect">
            <a:avLst/>
          </a:prstGeom>
          <a:noFill/>
        </p:spPr>
        <p:txBody>
          <a:bodyPr wrap="square" lIns="0" tIns="0" rIns="0" bIns="0" rtlCol="0" anchor="ctr"/>
          <a:lstStyle/>
          <a:p>
            <a:pPr marL="0" indent="0" algn="l">
              <a:buNone/>
            </a:pPr>
            <a:r>
              <a:rPr lang="en-US" sz="850" b="1" kern="0" spc="200" dirty="0">
                <a:solidFill>
                  <a:srgbClr val="0EA5A0"/>
                </a:solidFill>
              </a:rPr>
              <a:t>AUC-ROC</a:t>
            </a:r>
            <a:endParaRPr lang="en-US" sz="850" dirty="0"/>
          </a:p>
        </p:txBody>
      </p:sp>
      <p:sp>
        <p:nvSpPr>
          <p:cNvPr id="1048705" name="Text 9"/>
          <p:cNvSpPr/>
          <p:nvPr/>
        </p:nvSpPr>
        <p:spPr>
          <a:xfrm>
            <a:off x="3383280" y="1207008"/>
            <a:ext cx="2468880" cy="457200"/>
          </a:xfrm>
          <a:prstGeom prst="rect">
            <a:avLst/>
          </a:prstGeom>
          <a:noFill/>
        </p:spPr>
        <p:txBody>
          <a:bodyPr wrap="square" lIns="0" tIns="0" rIns="0" bIns="0" rtlCol="0" anchor="ctr"/>
          <a:lstStyle/>
          <a:p>
            <a:pPr marL="0" indent="0" algn="ctr">
              <a:buNone/>
            </a:pPr>
            <a:r>
              <a:rPr lang="en-US" sz="2400" b="1" dirty="0">
                <a:solidFill>
                  <a:srgbClr val="FFFFFF"/>
                </a:solidFill>
              </a:rPr>
              <a:t>[ 0,993 ]</a:t>
            </a:r>
            <a:endParaRPr lang="en-US" sz="2400" dirty="0"/>
          </a:p>
        </p:txBody>
      </p:sp>
      <p:sp>
        <p:nvSpPr>
          <p:cNvPr id="1048706" name="Text 10"/>
          <p:cNvSpPr/>
          <p:nvPr/>
        </p:nvSpPr>
        <p:spPr>
          <a:xfrm>
            <a:off x="3383280" y="1691640"/>
            <a:ext cx="2468880" cy="228600"/>
          </a:xfrm>
          <a:prstGeom prst="rect">
            <a:avLst/>
          </a:prstGeom>
          <a:noFill/>
        </p:spPr>
        <p:txBody>
          <a:bodyPr wrap="square" lIns="0" tIns="0" rIns="0" bIns="0" rtlCol="0" anchor="ctr"/>
          <a:lstStyle/>
          <a:p>
            <a:pPr marL="0" indent="0" algn="ctr">
              <a:buNone/>
            </a:pPr>
            <a:r>
              <a:rPr lang="en-US" sz="800" dirty="0">
                <a:solidFill>
                  <a:srgbClr val="8DA2B5"/>
                </a:solidFill>
              </a:rPr>
              <a:t>Capacidad de discriminacion</a:t>
            </a:r>
            <a:endParaRPr lang="en-US" sz="800" dirty="0"/>
          </a:p>
        </p:txBody>
      </p:sp>
      <p:sp>
        <p:nvSpPr>
          <p:cNvPr id="1048707" name="Shape 11"/>
          <p:cNvSpPr/>
          <p:nvPr/>
        </p:nvSpPr>
        <p:spPr>
          <a:xfrm>
            <a:off x="6126480" y="914400"/>
            <a:ext cx="2651760" cy="1143000"/>
          </a:xfrm>
          <a:prstGeom prst="rect">
            <a:avLst/>
          </a:prstGeom>
          <a:solidFill>
            <a:srgbClr val="0D1B2A"/>
          </a:solidFill>
          <a:ln w="12700">
            <a:solidFill>
              <a:srgbClr val="0D1B2A"/>
            </a:solidFill>
            <a:prstDash val="solid"/>
          </a:ln>
          <a:effectLst>
            <a:outerShdw blurRad="101600" dist="38100" dir="8100000" algn="bl" rotWithShape="0">
              <a:srgbClr val="000000">
                <a:alpha val="10000"/>
              </a:srgbClr>
            </a:outerShdw>
          </a:effectLst>
        </p:spPr>
        <p:txBody>
          <a:bodyPr/>
          <a:lstStyle/>
          <a:p>
            <a:endParaRPr lang="es-CO"/>
          </a:p>
        </p:txBody>
      </p:sp>
      <p:sp>
        <p:nvSpPr>
          <p:cNvPr id="1048708" name="Text 12"/>
          <p:cNvSpPr/>
          <p:nvPr/>
        </p:nvSpPr>
        <p:spPr>
          <a:xfrm>
            <a:off x="6263640" y="987552"/>
            <a:ext cx="2377440" cy="228600"/>
          </a:xfrm>
          <a:prstGeom prst="rect">
            <a:avLst/>
          </a:prstGeom>
          <a:noFill/>
        </p:spPr>
        <p:txBody>
          <a:bodyPr wrap="square" lIns="0" tIns="0" rIns="0" bIns="0" rtlCol="0" anchor="ctr"/>
          <a:lstStyle/>
          <a:p>
            <a:pPr marL="0" indent="0" algn="l">
              <a:buNone/>
            </a:pPr>
            <a:r>
              <a:rPr lang="en-US" sz="850" b="1" kern="0" spc="200" dirty="0">
                <a:solidFill>
                  <a:srgbClr val="0EA5A0"/>
                </a:solidFill>
              </a:rPr>
              <a:t>Variable clave</a:t>
            </a:r>
            <a:endParaRPr lang="en-US" sz="850" dirty="0"/>
          </a:p>
        </p:txBody>
      </p:sp>
      <p:sp>
        <p:nvSpPr>
          <p:cNvPr id="1048709" name="Text 13"/>
          <p:cNvSpPr/>
          <p:nvPr/>
        </p:nvSpPr>
        <p:spPr>
          <a:xfrm>
            <a:off x="6217920" y="1207008"/>
            <a:ext cx="2468880" cy="457200"/>
          </a:xfrm>
          <a:prstGeom prst="rect">
            <a:avLst/>
          </a:prstGeom>
          <a:noFill/>
        </p:spPr>
        <p:txBody>
          <a:bodyPr wrap="square" lIns="0" tIns="0" rIns="0" bIns="0" rtlCol="0" anchor="ctr"/>
          <a:lstStyle/>
          <a:p>
            <a:pPr algn="ctr"/>
            <a:r>
              <a:rPr lang="en-US" sz="2400" b="1" dirty="0">
                <a:solidFill>
                  <a:srgbClr val="FFFFFF"/>
                </a:solidFill>
              </a:rPr>
              <a:t>[</a:t>
            </a:r>
            <a:r>
              <a:rPr lang="en-US" sz="2400" b="1" dirty="0" err="1">
                <a:solidFill>
                  <a:srgbClr val="FFFFFF"/>
                </a:solidFill>
              </a:rPr>
              <a:t>StatusofReserve</a:t>
            </a:r>
            <a:r>
              <a:rPr lang="en-US" sz="2400" b="1" dirty="0">
                <a:solidFill>
                  <a:srgbClr val="FFFFFF"/>
                </a:solidFill>
              </a:rPr>
              <a:t>]</a:t>
            </a:r>
            <a:endParaRPr lang="en-US" sz="2400" dirty="0"/>
          </a:p>
        </p:txBody>
      </p:sp>
      <p:sp>
        <p:nvSpPr>
          <p:cNvPr id="1048710" name="Text 14"/>
          <p:cNvSpPr/>
          <p:nvPr/>
        </p:nvSpPr>
        <p:spPr>
          <a:xfrm>
            <a:off x="6217920" y="1691640"/>
            <a:ext cx="2468880" cy="228600"/>
          </a:xfrm>
          <a:prstGeom prst="rect">
            <a:avLst/>
          </a:prstGeom>
          <a:noFill/>
        </p:spPr>
        <p:txBody>
          <a:bodyPr wrap="square" lIns="0" tIns="0" rIns="0" bIns="0" rtlCol="0" anchor="ctr"/>
          <a:lstStyle/>
          <a:p>
            <a:pPr marL="0" indent="0" algn="ctr">
              <a:buNone/>
            </a:pPr>
            <a:r>
              <a:rPr lang="en-US" sz="800" dirty="0">
                <a:solidFill>
                  <a:srgbClr val="8DA2B5"/>
                </a:solidFill>
              </a:rPr>
              <a:t>Mayor peso en la prediccion</a:t>
            </a:r>
            <a:endParaRPr lang="en-US" sz="800" dirty="0"/>
          </a:p>
        </p:txBody>
      </p:sp>
      <p:sp>
        <p:nvSpPr>
          <p:cNvPr id="1048711" name="Shape 15"/>
          <p:cNvSpPr/>
          <p:nvPr/>
        </p:nvSpPr>
        <p:spPr>
          <a:xfrm>
            <a:off x="457200" y="2194560"/>
            <a:ext cx="3657600" cy="2514600"/>
          </a:xfrm>
          <a:prstGeom prst="rect">
            <a:avLst/>
          </a:prstGeom>
          <a:solidFill>
            <a:srgbClr val="FFFFFF"/>
          </a:solidFill>
          <a:ln w="6350">
            <a:solidFill>
              <a:srgbClr val="D0DDE8"/>
            </a:solidFill>
            <a:prstDash val="solid"/>
          </a:ln>
          <a:effectLst>
            <a:outerShdw blurRad="101600" dist="38100" dir="8100000" algn="bl" rotWithShape="0">
              <a:srgbClr val="000000">
                <a:alpha val="10000"/>
              </a:srgbClr>
            </a:outerShdw>
          </a:effectLst>
        </p:spPr>
        <p:txBody>
          <a:bodyPr/>
          <a:lstStyle/>
          <a:p>
            <a:endParaRPr lang="es-CO"/>
          </a:p>
        </p:txBody>
      </p:sp>
      <p:sp>
        <p:nvSpPr>
          <p:cNvPr id="1048712" name="Text 16"/>
          <p:cNvSpPr/>
          <p:nvPr/>
        </p:nvSpPr>
        <p:spPr>
          <a:xfrm>
            <a:off x="594360" y="2286000"/>
            <a:ext cx="3383280" cy="274320"/>
          </a:xfrm>
          <a:prstGeom prst="rect">
            <a:avLst/>
          </a:prstGeom>
          <a:noFill/>
        </p:spPr>
        <p:txBody>
          <a:bodyPr wrap="square" lIns="0" tIns="0" rIns="0" bIns="0" rtlCol="0" anchor="ctr"/>
          <a:lstStyle/>
          <a:p>
            <a:pPr marL="0" indent="0" algn="l">
              <a:buNone/>
            </a:pPr>
            <a:r>
              <a:rPr lang="en-US" sz="1000" b="1" dirty="0">
                <a:solidFill>
                  <a:srgbClr val="0D1B2A"/>
                </a:solidFill>
              </a:rPr>
              <a:t>Importancia de variables</a:t>
            </a:r>
            <a:endParaRPr lang="en-US" sz="1000" dirty="0"/>
          </a:p>
        </p:txBody>
      </p:sp>
      <p:sp>
        <p:nvSpPr>
          <p:cNvPr id="1048715" name="Shape 19"/>
          <p:cNvSpPr/>
          <p:nvPr/>
        </p:nvSpPr>
        <p:spPr>
          <a:xfrm>
            <a:off x="4343400" y="2194560"/>
            <a:ext cx="4343400" cy="2514600"/>
          </a:xfrm>
          <a:prstGeom prst="rect">
            <a:avLst/>
          </a:prstGeom>
          <a:solidFill>
            <a:srgbClr val="FFFFFF"/>
          </a:solidFill>
          <a:ln w="6350">
            <a:solidFill>
              <a:srgbClr val="D0DDE8"/>
            </a:solidFill>
            <a:prstDash val="solid"/>
          </a:ln>
          <a:effectLst>
            <a:outerShdw blurRad="101600" dist="38100" dir="8100000" algn="bl" rotWithShape="0">
              <a:srgbClr val="000000">
                <a:alpha val="10000"/>
              </a:srgbClr>
            </a:outerShdw>
          </a:effectLst>
        </p:spPr>
        <p:txBody>
          <a:bodyPr/>
          <a:lstStyle/>
          <a:p>
            <a:endParaRPr lang="es-CO"/>
          </a:p>
        </p:txBody>
      </p:sp>
      <p:sp>
        <p:nvSpPr>
          <p:cNvPr id="1048716" name="Text 20"/>
          <p:cNvSpPr/>
          <p:nvPr/>
        </p:nvSpPr>
        <p:spPr>
          <a:xfrm>
            <a:off x="4480560" y="2286000"/>
            <a:ext cx="4023360" cy="274320"/>
          </a:xfrm>
          <a:prstGeom prst="rect">
            <a:avLst/>
          </a:prstGeom>
          <a:noFill/>
        </p:spPr>
        <p:txBody>
          <a:bodyPr wrap="square" lIns="0" tIns="0" rIns="0" bIns="0" rtlCol="0" anchor="ctr"/>
          <a:lstStyle/>
          <a:p>
            <a:pPr marL="0" indent="0" algn="l">
              <a:buNone/>
            </a:pPr>
            <a:r>
              <a:rPr lang="en-US" sz="1000" b="1" dirty="0">
                <a:solidFill>
                  <a:srgbClr val="0D1B2A"/>
                </a:solidFill>
              </a:rPr>
              <a:t>Prediccion vs Respuesta real (muestra)</a:t>
            </a:r>
            <a:endParaRPr lang="en-US" sz="1000" dirty="0"/>
          </a:p>
        </p:txBody>
      </p:sp>
      <p:sp>
        <p:nvSpPr>
          <p:cNvPr id="1048719" name="Shape 23"/>
          <p:cNvSpPr/>
          <p:nvPr/>
        </p:nvSpPr>
        <p:spPr>
          <a:xfrm>
            <a:off x="457200" y="4754880"/>
            <a:ext cx="8229600" cy="274320"/>
          </a:xfrm>
          <a:prstGeom prst="rect">
            <a:avLst/>
          </a:prstGeom>
          <a:solidFill>
            <a:srgbClr val="0D1B2A"/>
          </a:solidFill>
          <a:ln w="12700">
            <a:solidFill>
              <a:srgbClr val="0D1B2A"/>
            </a:solidFill>
            <a:prstDash val="solid"/>
          </a:ln>
        </p:spPr>
        <p:txBody>
          <a:bodyPr/>
          <a:lstStyle/>
          <a:p>
            <a:endParaRPr lang="es-CO"/>
          </a:p>
        </p:txBody>
      </p:sp>
      <p:sp>
        <p:nvSpPr>
          <p:cNvPr id="1048720" name="Text 24"/>
          <p:cNvSpPr/>
          <p:nvPr/>
        </p:nvSpPr>
        <p:spPr>
          <a:xfrm>
            <a:off x="548640" y="4773168"/>
            <a:ext cx="8046720" cy="237744"/>
          </a:xfrm>
          <a:prstGeom prst="rect">
            <a:avLst/>
          </a:prstGeom>
          <a:noFill/>
        </p:spPr>
        <p:txBody>
          <a:bodyPr wrap="square" lIns="0" tIns="0" rIns="0" bIns="0" rtlCol="0" anchor="ctr"/>
          <a:lstStyle/>
          <a:p>
            <a:pPr marL="0" indent="0" algn="l">
              <a:buNone/>
            </a:pPr>
            <a:r>
              <a:rPr lang="en-US" sz="850" i="1" dirty="0">
                <a:solidFill>
                  <a:srgbClr val="8DA2B5"/>
                </a:solidFill>
              </a:rPr>
              <a:t>[de </a:t>
            </a:r>
            <a:r>
              <a:rPr lang="en-US" sz="850" i="1" dirty="0" err="1">
                <a:solidFill>
                  <a:srgbClr val="8DA2B5"/>
                </a:solidFill>
              </a:rPr>
              <a:t>cada</a:t>
            </a:r>
            <a:r>
              <a:rPr lang="en-US" sz="850" i="1" dirty="0">
                <a:solidFill>
                  <a:srgbClr val="8DA2B5"/>
                </a:solidFill>
              </a:rPr>
              <a:t> 10 reservas, el modelo acierta X veces si ese pasajero cancelara o no ]</a:t>
            </a:r>
            <a:endParaRPr lang="en-US" sz="850" dirty="0"/>
          </a:p>
        </p:txBody>
      </p:sp>
      <p:pic>
        <p:nvPicPr>
          <p:cNvPr id="3" name="Imagen 2">
            <a:extLst>
              <a:ext uri="{FF2B5EF4-FFF2-40B4-BE49-F238E27FC236}">
                <a16:creationId xmlns:a16="http://schemas.microsoft.com/office/drawing/2014/main" id="{37454483-B607-42B4-B431-229020E98405}"/>
              </a:ext>
            </a:extLst>
          </p:cNvPr>
          <p:cNvPicPr>
            <a:picLocks noChangeAspect="1"/>
          </p:cNvPicPr>
          <p:nvPr/>
        </p:nvPicPr>
        <p:blipFill>
          <a:blip r:embed="rId3"/>
          <a:stretch>
            <a:fillRect/>
          </a:stretch>
        </p:blipFill>
        <p:spPr>
          <a:xfrm>
            <a:off x="843131" y="2571750"/>
            <a:ext cx="2788920" cy="2103120"/>
          </a:xfrm>
          <a:prstGeom prst="rect">
            <a:avLst/>
          </a:prstGeom>
        </p:spPr>
      </p:pic>
      <p:pic>
        <p:nvPicPr>
          <p:cNvPr id="5" name="Imagen 4">
            <a:extLst>
              <a:ext uri="{FF2B5EF4-FFF2-40B4-BE49-F238E27FC236}">
                <a16:creationId xmlns:a16="http://schemas.microsoft.com/office/drawing/2014/main" id="{C66E131E-A74F-3FED-0D16-E478609E660D}"/>
              </a:ext>
            </a:extLst>
          </p:cNvPr>
          <p:cNvPicPr>
            <a:picLocks noChangeAspect="1"/>
          </p:cNvPicPr>
          <p:nvPr/>
        </p:nvPicPr>
        <p:blipFill>
          <a:blip r:embed="rId4"/>
          <a:stretch>
            <a:fillRect/>
          </a:stretch>
        </p:blipFill>
        <p:spPr>
          <a:xfrm>
            <a:off x="4746291" y="2589181"/>
            <a:ext cx="3392178" cy="2091118"/>
          </a:xfrm>
          <a:prstGeom prst="rect">
            <a:avLst/>
          </a:prstGeom>
        </p:spPr>
      </p:pic>
      <p:sp>
        <p:nvSpPr>
          <p:cNvPr id="7" name="Rectangle 1">
            <a:extLst>
              <a:ext uri="{FF2B5EF4-FFF2-40B4-BE49-F238E27FC236}">
                <a16:creationId xmlns:a16="http://schemas.microsoft.com/office/drawing/2014/main" id="{C154C40C-B683-230E-FCD6-C406D4A8309E}"/>
              </a:ext>
            </a:extLst>
          </p:cNvPr>
          <p:cNvSpPr>
            <a:spLocks noChangeArrowheads="1"/>
          </p:cNvSpPr>
          <p:nvPr/>
        </p:nvSpPr>
        <p:spPr bwMode="auto">
          <a:xfrm>
            <a:off x="5943600" y="182336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s-CO" altLang="es-CO" sz="1800" b="0" i="0" u="none" strike="noStrike" cap="none" normalizeH="0" baseline="0">
                <a:ln>
                  <a:noFill/>
                </a:ln>
                <a:solidFill>
                  <a:schemeClr val="tx1"/>
                </a:solidFill>
                <a:effectLst/>
                <a:latin typeface="Arial" panose="020B0604020202020204" pitchFamily="34" charset="0"/>
              </a:rPr>
            </a:br>
            <a:endParaRPr kumimoji="0" lang="es-CO" altLang="es-CO"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a:effectLst/>
      </p:bgPr>
    </p:bg>
    <p:spTree>
      <p:nvGrpSpPr>
        <p:cNvPr id="1" name=""/>
        <p:cNvGrpSpPr/>
        <p:nvPr/>
      </p:nvGrpSpPr>
      <p:grpSpPr>
        <a:xfrm>
          <a:off x="0" y="0"/>
          <a:ext cx="0" cy="0"/>
          <a:chOff x="0" y="0"/>
          <a:chExt cx="0" cy="0"/>
        </a:xfrm>
      </p:grpSpPr>
      <p:sp>
        <p:nvSpPr>
          <p:cNvPr id="1048724" name="Shape 0"/>
          <p:cNvSpPr/>
          <p:nvPr/>
        </p:nvSpPr>
        <p:spPr>
          <a:xfrm>
            <a:off x="6766560" y="2725102"/>
            <a:ext cx="4572000" cy="4572000"/>
          </a:xfrm>
          <a:prstGeom prst="ellipse">
            <a:avLst/>
          </a:prstGeom>
          <a:solidFill>
            <a:srgbClr val="0EA5A0">
              <a:alpha val="12000"/>
            </a:srgbClr>
          </a:solidFill>
          <a:ln w="6350">
            <a:solidFill>
              <a:srgbClr val="0EA5A0">
                <a:alpha val="30000"/>
              </a:srgbClr>
            </a:solidFill>
            <a:prstDash val="solid"/>
          </a:ln>
        </p:spPr>
        <p:txBody>
          <a:bodyPr/>
          <a:lstStyle/>
          <a:p>
            <a:endParaRPr lang="es-CO"/>
          </a:p>
        </p:txBody>
      </p:sp>
      <p:sp>
        <p:nvSpPr>
          <p:cNvPr id="1048725" name="Text 1"/>
          <p:cNvSpPr/>
          <p:nvPr/>
        </p:nvSpPr>
        <p:spPr>
          <a:xfrm>
            <a:off x="8595360" y="182880"/>
            <a:ext cx="457200" cy="274320"/>
          </a:xfrm>
          <a:prstGeom prst="rect">
            <a:avLst/>
          </a:prstGeom>
          <a:noFill/>
        </p:spPr>
        <p:txBody>
          <a:bodyPr wrap="square" lIns="0" tIns="0" rIns="0" bIns="0" rtlCol="0" anchor="ctr"/>
          <a:lstStyle/>
          <a:p>
            <a:pPr marL="0" indent="0" algn="r">
              <a:buNone/>
            </a:pPr>
            <a:r>
              <a:rPr lang="en-US" sz="900" dirty="0">
                <a:solidFill>
                  <a:srgbClr val="8DA2B5"/>
                </a:solidFill>
              </a:rPr>
              <a:t>06</a:t>
            </a:r>
            <a:endParaRPr lang="en-US" sz="900" dirty="0"/>
          </a:p>
        </p:txBody>
      </p:sp>
      <p:sp>
        <p:nvSpPr>
          <p:cNvPr id="1048726" name="Text 2"/>
          <p:cNvSpPr/>
          <p:nvPr/>
        </p:nvSpPr>
        <p:spPr>
          <a:xfrm>
            <a:off x="3347711" y="320040"/>
            <a:ext cx="2448577" cy="502920"/>
          </a:xfrm>
          <a:prstGeom prst="rect">
            <a:avLst/>
          </a:prstGeom>
          <a:noFill/>
        </p:spPr>
        <p:txBody>
          <a:bodyPr wrap="square" lIns="0" tIns="0" rIns="0" bIns="0" rtlCol="0" anchor="ctr"/>
          <a:lstStyle/>
          <a:p>
            <a:pPr marL="0" indent="0" algn="l">
              <a:buNone/>
            </a:pPr>
            <a:r>
              <a:rPr lang="en-US" sz="3200" b="1" dirty="0">
                <a:solidFill>
                  <a:srgbClr val="FFFFFF"/>
                </a:solidFill>
              </a:rPr>
              <a:t>Conclusiones </a:t>
            </a:r>
            <a:endParaRPr lang="en-US" sz="3200" dirty="0"/>
          </a:p>
        </p:txBody>
      </p:sp>
      <p:sp>
        <p:nvSpPr>
          <p:cNvPr id="1048727" name="Shape 3"/>
          <p:cNvSpPr/>
          <p:nvPr/>
        </p:nvSpPr>
        <p:spPr>
          <a:xfrm>
            <a:off x="3977640" y="911172"/>
            <a:ext cx="1188720" cy="45720"/>
          </a:xfrm>
          <a:prstGeom prst="rect">
            <a:avLst/>
          </a:prstGeom>
          <a:solidFill>
            <a:srgbClr val="0EA5A0"/>
          </a:solidFill>
          <a:ln w="12700">
            <a:solidFill>
              <a:srgbClr val="0EA5A0"/>
            </a:solidFill>
            <a:prstDash val="solid"/>
          </a:ln>
        </p:spPr>
        <p:txBody>
          <a:bodyPr/>
          <a:lstStyle/>
          <a:p>
            <a:endParaRPr lang="es-CO"/>
          </a:p>
        </p:txBody>
      </p:sp>
      <p:sp>
        <p:nvSpPr>
          <p:cNvPr id="1048728" name="Shape 4"/>
          <p:cNvSpPr/>
          <p:nvPr/>
        </p:nvSpPr>
        <p:spPr>
          <a:xfrm>
            <a:off x="3263842" y="1394145"/>
            <a:ext cx="387166" cy="357807"/>
          </a:xfrm>
          <a:prstGeom prst="ellipse">
            <a:avLst/>
          </a:prstGeom>
          <a:solidFill>
            <a:srgbClr val="0EA5A0"/>
          </a:solidFill>
          <a:ln w="12700">
            <a:solidFill>
              <a:srgbClr val="0EA5A0"/>
            </a:solidFill>
            <a:prstDash val="solid"/>
          </a:ln>
        </p:spPr>
        <p:txBody>
          <a:bodyPr/>
          <a:lstStyle/>
          <a:p>
            <a:endParaRPr lang="es-CO" sz="1400"/>
          </a:p>
        </p:txBody>
      </p:sp>
      <p:sp>
        <p:nvSpPr>
          <p:cNvPr id="1048729" name="Text 5"/>
          <p:cNvSpPr/>
          <p:nvPr/>
        </p:nvSpPr>
        <p:spPr>
          <a:xfrm>
            <a:off x="3263842" y="1394145"/>
            <a:ext cx="387166" cy="357807"/>
          </a:xfrm>
          <a:prstGeom prst="rect">
            <a:avLst/>
          </a:prstGeom>
          <a:noFill/>
        </p:spPr>
        <p:txBody>
          <a:bodyPr wrap="square" lIns="0" tIns="0" rIns="0" bIns="0" rtlCol="0" anchor="ctr"/>
          <a:lstStyle/>
          <a:p>
            <a:pPr marL="0" indent="0" algn="ctr">
              <a:buNone/>
            </a:pPr>
            <a:r>
              <a:rPr lang="en-US" sz="1400" b="1" dirty="0">
                <a:solidFill>
                  <a:srgbClr val="0D1B2A"/>
                </a:solidFill>
              </a:rPr>
              <a:t>1</a:t>
            </a:r>
            <a:endParaRPr lang="en-US" sz="1400" dirty="0"/>
          </a:p>
        </p:txBody>
      </p:sp>
      <p:sp>
        <p:nvSpPr>
          <p:cNvPr id="1048730" name="Text 6"/>
          <p:cNvSpPr/>
          <p:nvPr/>
        </p:nvSpPr>
        <p:spPr>
          <a:xfrm>
            <a:off x="3710174" y="1394145"/>
            <a:ext cx="2421361" cy="357807"/>
          </a:xfrm>
          <a:prstGeom prst="rect">
            <a:avLst/>
          </a:prstGeom>
          <a:noFill/>
        </p:spPr>
        <p:txBody>
          <a:bodyPr wrap="square" lIns="0" tIns="0" rIns="0" bIns="0" rtlCol="0" anchor="ctr"/>
          <a:lstStyle/>
          <a:p>
            <a:pPr marL="0" indent="0" algn="l">
              <a:buNone/>
            </a:pPr>
            <a:r>
              <a:rPr lang="en-US" sz="1400" i="1" dirty="0">
                <a:solidFill>
                  <a:srgbClr val="8DA2B5"/>
                </a:solidFill>
              </a:rPr>
              <a:t>El modelo, funciono bien?</a:t>
            </a:r>
            <a:endParaRPr lang="en-US" sz="1400" dirty="0"/>
          </a:p>
        </p:txBody>
      </p:sp>
      <p:sp>
        <p:nvSpPr>
          <p:cNvPr id="1048731" name="Shape 7"/>
          <p:cNvSpPr/>
          <p:nvPr/>
        </p:nvSpPr>
        <p:spPr>
          <a:xfrm>
            <a:off x="2876833" y="2556998"/>
            <a:ext cx="335160" cy="345330"/>
          </a:xfrm>
          <a:prstGeom prst="ellipse">
            <a:avLst/>
          </a:prstGeom>
          <a:solidFill>
            <a:srgbClr val="0EA5A0"/>
          </a:solidFill>
          <a:ln w="12700">
            <a:solidFill>
              <a:srgbClr val="0EA5A0"/>
            </a:solidFill>
            <a:prstDash val="solid"/>
          </a:ln>
        </p:spPr>
        <p:txBody>
          <a:bodyPr/>
          <a:lstStyle/>
          <a:p>
            <a:endParaRPr lang="es-CO" sz="1400"/>
          </a:p>
        </p:txBody>
      </p:sp>
      <p:sp>
        <p:nvSpPr>
          <p:cNvPr id="1048732" name="Text 8"/>
          <p:cNvSpPr/>
          <p:nvPr/>
        </p:nvSpPr>
        <p:spPr>
          <a:xfrm>
            <a:off x="2859648" y="2542582"/>
            <a:ext cx="361404" cy="372370"/>
          </a:xfrm>
          <a:prstGeom prst="rect">
            <a:avLst/>
          </a:prstGeom>
          <a:noFill/>
        </p:spPr>
        <p:txBody>
          <a:bodyPr wrap="square" lIns="0" tIns="0" rIns="0" bIns="0" rtlCol="0" anchor="ctr"/>
          <a:lstStyle/>
          <a:p>
            <a:pPr marL="0" indent="0" algn="ctr">
              <a:buNone/>
            </a:pPr>
            <a:r>
              <a:rPr lang="en-US" sz="1400" b="1" dirty="0">
                <a:solidFill>
                  <a:srgbClr val="0D1B2A"/>
                </a:solidFill>
              </a:rPr>
              <a:t>2</a:t>
            </a:r>
            <a:endParaRPr lang="en-US" sz="1400" dirty="0"/>
          </a:p>
        </p:txBody>
      </p:sp>
      <p:sp>
        <p:nvSpPr>
          <p:cNvPr id="1048733" name="Text 9"/>
          <p:cNvSpPr/>
          <p:nvPr/>
        </p:nvSpPr>
        <p:spPr>
          <a:xfrm>
            <a:off x="3263842" y="2552437"/>
            <a:ext cx="3184022" cy="345330"/>
          </a:xfrm>
          <a:prstGeom prst="rect">
            <a:avLst/>
          </a:prstGeom>
          <a:noFill/>
        </p:spPr>
        <p:txBody>
          <a:bodyPr wrap="square" lIns="0" tIns="0" rIns="0" bIns="0" rtlCol="0" anchor="ctr"/>
          <a:lstStyle/>
          <a:p>
            <a:pPr marL="0" indent="0" algn="l">
              <a:buNone/>
            </a:pPr>
            <a:r>
              <a:rPr lang="en-US" sz="1400" i="1" dirty="0">
                <a:solidFill>
                  <a:srgbClr val="8DA2B5"/>
                </a:solidFill>
              </a:rPr>
              <a:t>Que aprendio el grupo con este proyecto?</a:t>
            </a:r>
            <a:endParaRPr lang="en-US" sz="1400" dirty="0"/>
          </a:p>
        </p:txBody>
      </p:sp>
      <p:sp>
        <p:nvSpPr>
          <p:cNvPr id="1048734" name="Shape 10"/>
          <p:cNvSpPr/>
          <p:nvPr/>
        </p:nvSpPr>
        <p:spPr>
          <a:xfrm>
            <a:off x="2934768" y="3886998"/>
            <a:ext cx="353280" cy="345330"/>
          </a:xfrm>
          <a:prstGeom prst="ellipse">
            <a:avLst/>
          </a:prstGeom>
          <a:solidFill>
            <a:srgbClr val="0EA5A0"/>
          </a:solidFill>
          <a:ln w="12700">
            <a:solidFill>
              <a:srgbClr val="0EA5A0"/>
            </a:solidFill>
            <a:prstDash val="solid"/>
          </a:ln>
        </p:spPr>
        <p:txBody>
          <a:bodyPr/>
          <a:lstStyle/>
          <a:p>
            <a:endParaRPr lang="es-CO" sz="1400"/>
          </a:p>
        </p:txBody>
      </p:sp>
      <p:sp>
        <p:nvSpPr>
          <p:cNvPr id="1048735" name="Text 11"/>
          <p:cNvSpPr/>
          <p:nvPr/>
        </p:nvSpPr>
        <p:spPr>
          <a:xfrm>
            <a:off x="2934769" y="3890733"/>
            <a:ext cx="353280" cy="345330"/>
          </a:xfrm>
          <a:prstGeom prst="rect">
            <a:avLst/>
          </a:prstGeom>
          <a:noFill/>
        </p:spPr>
        <p:txBody>
          <a:bodyPr wrap="square" lIns="0" tIns="0" rIns="0" bIns="0" rtlCol="0" anchor="ctr"/>
          <a:lstStyle/>
          <a:p>
            <a:pPr marL="0" indent="0" algn="ctr">
              <a:buNone/>
            </a:pPr>
            <a:r>
              <a:rPr lang="en-US" sz="1400" b="1" dirty="0">
                <a:solidFill>
                  <a:srgbClr val="0D1B2A"/>
                </a:solidFill>
              </a:rPr>
              <a:t>3</a:t>
            </a:r>
            <a:endParaRPr lang="en-US" sz="1400" dirty="0"/>
          </a:p>
        </p:txBody>
      </p:sp>
      <p:sp>
        <p:nvSpPr>
          <p:cNvPr id="1048736" name="Text 12"/>
          <p:cNvSpPr/>
          <p:nvPr/>
        </p:nvSpPr>
        <p:spPr>
          <a:xfrm>
            <a:off x="3347711" y="3886998"/>
            <a:ext cx="3354623" cy="345330"/>
          </a:xfrm>
          <a:prstGeom prst="rect">
            <a:avLst/>
          </a:prstGeom>
          <a:noFill/>
        </p:spPr>
        <p:txBody>
          <a:bodyPr wrap="square" lIns="0" tIns="0" rIns="0" bIns="0" rtlCol="0" anchor="ctr"/>
          <a:lstStyle/>
          <a:p>
            <a:pPr marL="0" indent="0" algn="l">
              <a:buNone/>
            </a:pPr>
            <a:r>
              <a:rPr lang="en-US" sz="1400" i="1" dirty="0">
                <a:solidFill>
                  <a:srgbClr val="8DA2B5"/>
                </a:solidFill>
              </a:rPr>
              <a:t>Que mejorarian si tuvieran mas tiempo?</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TotalTime>
  <Words>581</Words>
  <Application>Microsoft Office PowerPoint</Application>
  <PresentationFormat>Presentación en pantalla (16:9)</PresentationFormat>
  <Paragraphs>99</Paragraphs>
  <Slides>6</Slides>
  <Notes>6</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6</vt:i4>
      </vt:variant>
    </vt:vector>
  </HeadingPairs>
  <TitlesOfParts>
    <vt:vector size="10" baseType="lpstr">
      <vt:lpstr>Arial</vt:lpstr>
      <vt:lpstr>Calibri</vt:lpstr>
      <vt:lpstr>Consolas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Prediccion de Cancelacion de Tiquetes</dc:title>
  <dc:creator>PptxGenJS</dc:creator>
  <cp:lastModifiedBy>JUAN DAVID CALDERON DIAZ</cp:lastModifiedBy>
  <cp:revision>4</cp:revision>
  <dcterms:created xsi:type="dcterms:W3CDTF">2026-05-13T18:07:29Z</dcterms:created>
  <dcterms:modified xsi:type="dcterms:W3CDTF">2026-05-14T21:26:20Z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1ee2256a9c34472cbc3bad676c24295f</vt:lpwstr>
  </property>
</Properties>
</file>